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sldIdLst>
    <p:sldId id="256" r:id="rId2"/>
    <p:sldId id="257" r:id="rId3"/>
    <p:sldId id="261" r:id="rId4"/>
    <p:sldId id="258" r:id="rId5"/>
    <p:sldId id="259" r:id="rId6"/>
    <p:sldId id="260" r:id="rId7"/>
    <p:sldId id="262" r:id="rId8"/>
    <p:sldId id="263" r:id="rId9"/>
    <p:sldId id="264" r:id="rId10"/>
    <p:sldId id="269" r:id="rId11"/>
    <p:sldId id="270" r:id="rId12"/>
    <p:sldId id="271" r:id="rId13"/>
    <p:sldId id="272" r:id="rId14"/>
    <p:sldId id="274" r:id="rId15"/>
    <p:sldId id="273" r:id="rId16"/>
    <p:sldId id="27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E804FD-C4C6-42B5-9794-8D6D912D44DB}" v="95" dt="2025-11-14T15:53:25.1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07" autoAdjust="0"/>
    <p:restoredTop sz="94660"/>
  </p:normalViewPr>
  <p:slideViewPr>
    <p:cSldViewPr snapToGrid="0">
      <p:cViewPr varScale="1">
        <p:scale>
          <a:sx n="77" d="100"/>
          <a:sy n="77" d="100"/>
        </p:scale>
        <p:origin x="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khitha k" userId="9c3a5a375a870a6f" providerId="LiveId" clId="{FC012E74-5459-4133-AE0D-4744DBCFF038}"/>
    <pc:docChg chg="custSel delSld modSld sldOrd">
      <pc:chgData name="Likhitha k" userId="9c3a5a375a870a6f" providerId="LiveId" clId="{FC012E74-5459-4133-AE0D-4744DBCFF038}" dt="2025-11-14T15:56:13.735" v="348" actId="14100"/>
      <pc:docMkLst>
        <pc:docMk/>
      </pc:docMkLst>
      <pc:sldChg chg="addSp modSp mod modTransition">
        <pc:chgData name="Likhitha k" userId="9c3a5a375a870a6f" providerId="LiveId" clId="{FC012E74-5459-4133-AE0D-4744DBCFF038}" dt="2025-11-14T15:56:13.735" v="348" actId="14100"/>
        <pc:sldMkLst>
          <pc:docMk/>
          <pc:sldMk cId="2537389337" sldId="256"/>
        </pc:sldMkLst>
        <pc:spChg chg="add mod">
          <ac:chgData name="Likhitha k" userId="9c3a5a375a870a6f" providerId="LiveId" clId="{FC012E74-5459-4133-AE0D-4744DBCFF038}" dt="2025-11-14T15:55:02.152" v="319" actId="1076"/>
          <ac:spMkLst>
            <pc:docMk/>
            <pc:sldMk cId="2537389337" sldId="256"/>
            <ac:spMk id="3" creationId="{08E7CCB3-524D-8F18-E662-C2B0C238B981}"/>
          </ac:spMkLst>
        </pc:spChg>
        <pc:spChg chg="add mod">
          <ac:chgData name="Likhitha k" userId="9c3a5a375a870a6f" providerId="LiveId" clId="{FC012E74-5459-4133-AE0D-4744DBCFF038}" dt="2025-11-14T15:56:13.735" v="348" actId="14100"/>
          <ac:spMkLst>
            <pc:docMk/>
            <pc:sldMk cId="2537389337" sldId="256"/>
            <ac:spMk id="5" creationId="{33224B2F-E43B-F50D-02E7-A2AC764FE4B5}"/>
          </ac:spMkLst>
        </pc:spChg>
        <pc:picChg chg="add mod">
          <ac:chgData name="Likhitha k" userId="9c3a5a375a870a6f" providerId="LiveId" clId="{FC012E74-5459-4133-AE0D-4744DBCFF038}" dt="2025-11-14T15:51:01.996" v="280"/>
          <ac:picMkLst>
            <pc:docMk/>
            <pc:sldMk cId="2537389337" sldId="256"/>
            <ac:picMk id="8194" creationId="{2AF36EC7-6818-FD00-CFFA-850EC982CE54}"/>
          </ac:picMkLst>
        </pc:picChg>
      </pc:sldChg>
      <pc:sldChg chg="addSp modSp modTransition">
        <pc:chgData name="Likhitha k" userId="9c3a5a375a870a6f" providerId="LiveId" clId="{FC012E74-5459-4133-AE0D-4744DBCFF038}" dt="2025-11-14T03:21:43.798" v="213"/>
        <pc:sldMkLst>
          <pc:docMk/>
          <pc:sldMk cId="1216629004" sldId="257"/>
        </pc:sldMkLst>
        <pc:picChg chg="add mod">
          <ac:chgData name="Likhitha k" userId="9c3a5a375a870a6f" providerId="LiveId" clId="{FC012E74-5459-4133-AE0D-4744DBCFF038}" dt="2025-11-14T03:20:08.445" v="197" actId="1440"/>
          <ac:picMkLst>
            <pc:docMk/>
            <pc:sldMk cId="1216629004" sldId="257"/>
            <ac:picMk id="2050" creationId="{CE8A5C1A-0125-7A0A-6EDC-FE6964143E04}"/>
          </ac:picMkLst>
        </pc:picChg>
      </pc:sldChg>
      <pc:sldChg chg="addSp modSp modTransition">
        <pc:chgData name="Likhitha k" userId="9c3a5a375a870a6f" providerId="LiveId" clId="{FC012E74-5459-4133-AE0D-4744DBCFF038}" dt="2025-11-14T15:40:01.232" v="235" actId="1076"/>
        <pc:sldMkLst>
          <pc:docMk/>
          <pc:sldMk cId="1292408297" sldId="258"/>
        </pc:sldMkLst>
        <pc:spChg chg="add">
          <ac:chgData name="Likhitha k" userId="9c3a5a375a870a6f" providerId="LiveId" clId="{FC012E74-5459-4133-AE0D-4744DBCFF038}" dt="2025-11-14T03:20:53.400" v="203"/>
          <ac:spMkLst>
            <pc:docMk/>
            <pc:sldMk cId="1292408297" sldId="258"/>
            <ac:spMk id="3" creationId="{90B6E5FF-1DE8-6A6B-CD42-D3B1ED3667B3}"/>
          </ac:spMkLst>
        </pc:spChg>
        <pc:picChg chg="add mod">
          <ac:chgData name="Likhitha k" userId="9c3a5a375a870a6f" providerId="LiveId" clId="{FC012E74-5459-4133-AE0D-4744DBCFF038}" dt="2025-11-14T15:40:01.232" v="235" actId="1076"/>
          <ac:picMkLst>
            <pc:docMk/>
            <pc:sldMk cId="1292408297" sldId="258"/>
            <ac:picMk id="2050" creationId="{3B7CCEE2-7F25-0647-5E79-6BF7D147F5EA}"/>
          </ac:picMkLst>
        </pc:picChg>
      </pc:sldChg>
      <pc:sldChg chg="addSp modSp modTransition">
        <pc:chgData name="Likhitha k" userId="9c3a5a375a870a6f" providerId="LiveId" clId="{FC012E74-5459-4133-AE0D-4744DBCFF038}" dt="2025-11-14T15:41:12.064" v="242" actId="1440"/>
        <pc:sldMkLst>
          <pc:docMk/>
          <pc:sldMk cId="3227443462" sldId="259"/>
        </pc:sldMkLst>
        <pc:picChg chg="add mod">
          <ac:chgData name="Likhitha k" userId="9c3a5a375a870a6f" providerId="LiveId" clId="{FC012E74-5459-4133-AE0D-4744DBCFF038}" dt="2025-11-14T15:41:12.064" v="242" actId="1440"/>
          <ac:picMkLst>
            <pc:docMk/>
            <pc:sldMk cId="3227443462" sldId="259"/>
            <ac:picMk id="3074" creationId="{D3FB3626-641D-B8CD-D7A0-C5160EAB450F}"/>
          </ac:picMkLst>
        </pc:picChg>
      </pc:sldChg>
      <pc:sldChg chg="addSp modSp modTransition">
        <pc:chgData name="Likhitha k" userId="9c3a5a375a870a6f" providerId="LiveId" clId="{FC012E74-5459-4133-AE0D-4744DBCFF038}" dt="2025-11-14T15:42:17.344" v="251" actId="1440"/>
        <pc:sldMkLst>
          <pc:docMk/>
          <pc:sldMk cId="3650748758" sldId="260"/>
        </pc:sldMkLst>
        <pc:picChg chg="add mod">
          <ac:chgData name="Likhitha k" userId="9c3a5a375a870a6f" providerId="LiveId" clId="{FC012E74-5459-4133-AE0D-4744DBCFF038}" dt="2025-11-14T15:42:17.344" v="251" actId="1440"/>
          <ac:picMkLst>
            <pc:docMk/>
            <pc:sldMk cId="3650748758" sldId="260"/>
            <ac:picMk id="4098" creationId="{E509001E-0980-25EC-FCC4-97C0CEED48CB}"/>
          </ac:picMkLst>
        </pc:picChg>
      </pc:sldChg>
      <pc:sldChg chg="addSp modSp mod modTransition">
        <pc:chgData name="Likhitha k" userId="9c3a5a375a870a6f" providerId="LiveId" clId="{FC012E74-5459-4133-AE0D-4744DBCFF038}" dt="2025-11-14T15:39:04.987" v="226" actId="1076"/>
        <pc:sldMkLst>
          <pc:docMk/>
          <pc:sldMk cId="3655025695" sldId="261"/>
        </pc:sldMkLst>
        <pc:spChg chg="add">
          <ac:chgData name="Likhitha k" userId="9c3a5a375a870a6f" providerId="LiveId" clId="{FC012E74-5459-4133-AE0D-4744DBCFF038}" dt="2025-11-14T03:20:27.159" v="198"/>
          <ac:spMkLst>
            <pc:docMk/>
            <pc:sldMk cId="3655025695" sldId="261"/>
            <ac:spMk id="3" creationId="{558DD4E6-3B90-100D-1C31-4A65BED19181}"/>
          </ac:spMkLst>
        </pc:spChg>
        <pc:spChg chg="add mod">
          <ac:chgData name="Likhitha k" userId="9c3a5a375a870a6f" providerId="LiveId" clId="{FC012E74-5459-4133-AE0D-4744DBCFF038}" dt="2025-11-14T15:38:14.848" v="216" actId="14100"/>
          <ac:spMkLst>
            <pc:docMk/>
            <pc:sldMk cId="3655025695" sldId="261"/>
            <ac:spMk id="3" creationId="{EBCED4B3-9BCB-D07F-B28C-14E940672BCD}"/>
          </ac:spMkLst>
        </pc:spChg>
        <pc:spChg chg="add">
          <ac:chgData name="Likhitha k" userId="9c3a5a375a870a6f" providerId="LiveId" clId="{FC012E74-5459-4133-AE0D-4744DBCFF038}" dt="2025-11-14T15:38:18.403" v="217"/>
          <ac:spMkLst>
            <pc:docMk/>
            <pc:sldMk cId="3655025695" sldId="261"/>
            <ac:spMk id="5" creationId="{4E00BC53-E3B1-CC79-391F-B368345E1E5F}"/>
          </ac:spMkLst>
        </pc:spChg>
        <pc:spChg chg="add mod">
          <ac:chgData name="Likhitha k" userId="9c3a5a375a870a6f" providerId="LiveId" clId="{FC012E74-5459-4133-AE0D-4744DBCFF038}" dt="2025-11-14T03:20:40.850" v="202" actId="14100"/>
          <ac:spMkLst>
            <pc:docMk/>
            <pc:sldMk cId="3655025695" sldId="261"/>
            <ac:spMk id="5" creationId="{B507A2A9-14BA-63BD-7D8A-78FEF9B11066}"/>
          </ac:spMkLst>
        </pc:spChg>
        <pc:spChg chg="add">
          <ac:chgData name="Likhitha k" userId="9c3a5a375a870a6f" providerId="LiveId" clId="{FC012E74-5459-4133-AE0D-4744DBCFF038}" dt="2025-11-14T15:38:39.453" v="218"/>
          <ac:spMkLst>
            <pc:docMk/>
            <pc:sldMk cId="3655025695" sldId="261"/>
            <ac:spMk id="7" creationId="{29982385-D033-4985-3F13-13B981901283}"/>
          </ac:spMkLst>
        </pc:spChg>
        <pc:spChg chg="add">
          <ac:chgData name="Likhitha k" userId="9c3a5a375a870a6f" providerId="LiveId" clId="{FC012E74-5459-4133-AE0D-4744DBCFF038}" dt="2025-11-14T03:20:39.178" v="201"/>
          <ac:spMkLst>
            <pc:docMk/>
            <pc:sldMk cId="3655025695" sldId="261"/>
            <ac:spMk id="7" creationId="{E0D83B68-E9CD-B047-4446-7E535BA988FD}"/>
          </ac:spMkLst>
        </pc:spChg>
        <pc:picChg chg="add mod">
          <ac:chgData name="Likhitha k" userId="9c3a5a375a870a6f" providerId="LiveId" clId="{FC012E74-5459-4133-AE0D-4744DBCFF038}" dt="2025-11-14T15:39:04.987" v="226" actId="1076"/>
          <ac:picMkLst>
            <pc:docMk/>
            <pc:sldMk cId="3655025695" sldId="261"/>
            <ac:picMk id="8" creationId="{1CAC5F32-7FFA-8532-B237-40191131E039}"/>
          </ac:picMkLst>
        </pc:picChg>
      </pc:sldChg>
      <pc:sldChg chg="modTransition">
        <pc:chgData name="Likhitha k" userId="9c3a5a375a870a6f" providerId="LiveId" clId="{FC012E74-5459-4133-AE0D-4744DBCFF038}" dt="2025-11-14T03:21:43.798" v="213"/>
        <pc:sldMkLst>
          <pc:docMk/>
          <pc:sldMk cId="269066218" sldId="262"/>
        </pc:sldMkLst>
      </pc:sldChg>
      <pc:sldChg chg="addSp modSp modTransition">
        <pc:chgData name="Likhitha k" userId="9c3a5a375a870a6f" providerId="LiveId" clId="{FC012E74-5459-4133-AE0D-4744DBCFF038}" dt="2025-11-14T15:43:26.743" v="259" actId="1440"/>
        <pc:sldMkLst>
          <pc:docMk/>
          <pc:sldMk cId="1814379415" sldId="263"/>
        </pc:sldMkLst>
        <pc:picChg chg="add mod">
          <ac:chgData name="Likhitha k" userId="9c3a5a375a870a6f" providerId="LiveId" clId="{FC012E74-5459-4133-AE0D-4744DBCFF038}" dt="2025-11-14T15:43:26.743" v="259" actId="1440"/>
          <ac:picMkLst>
            <pc:docMk/>
            <pc:sldMk cId="1814379415" sldId="263"/>
            <ac:picMk id="5122" creationId="{6111FF67-5632-8C60-10D2-8FFEFBA8A7AB}"/>
          </ac:picMkLst>
        </pc:picChg>
      </pc:sldChg>
      <pc:sldChg chg="addSp modSp mod modTransition">
        <pc:chgData name="Likhitha k" userId="9c3a5a375a870a6f" providerId="LiveId" clId="{FC012E74-5459-4133-AE0D-4744DBCFF038}" dt="2025-11-14T15:47:29.136" v="267" actId="1076"/>
        <pc:sldMkLst>
          <pc:docMk/>
          <pc:sldMk cId="2907761686" sldId="264"/>
        </pc:sldMkLst>
        <pc:spChg chg="mod">
          <ac:chgData name="Likhitha k" userId="9c3a5a375a870a6f" providerId="LiveId" clId="{FC012E74-5459-4133-AE0D-4744DBCFF038}" dt="2025-11-14T02:19:14.668" v="0" actId="207"/>
          <ac:spMkLst>
            <pc:docMk/>
            <pc:sldMk cId="2907761686" sldId="264"/>
            <ac:spMk id="6" creationId="{481F49CA-B1F2-7374-A673-3F1380F260E0}"/>
          </ac:spMkLst>
        </pc:spChg>
        <pc:picChg chg="add mod">
          <ac:chgData name="Likhitha k" userId="9c3a5a375a870a6f" providerId="LiveId" clId="{FC012E74-5459-4133-AE0D-4744DBCFF038}" dt="2025-11-14T15:47:29.136" v="267" actId="1076"/>
          <ac:picMkLst>
            <pc:docMk/>
            <pc:sldMk cId="2907761686" sldId="264"/>
            <ac:picMk id="6146" creationId="{707FD498-0021-C768-6219-3B40C54D74CE}"/>
          </ac:picMkLst>
        </pc:picChg>
      </pc:sldChg>
      <pc:sldChg chg="addSp modSp del mod modTransition">
        <pc:chgData name="Likhitha k" userId="9c3a5a375a870a6f" providerId="LiveId" clId="{FC012E74-5459-4133-AE0D-4744DBCFF038}" dt="2025-11-14T15:49:07.403" v="277" actId="2696"/>
        <pc:sldMkLst>
          <pc:docMk/>
          <pc:sldMk cId="3130187958" sldId="265"/>
        </pc:sldMkLst>
        <pc:spChg chg="add mod">
          <ac:chgData name="Likhitha k" userId="9c3a5a375a870a6f" providerId="LiveId" clId="{FC012E74-5459-4133-AE0D-4744DBCFF038}" dt="2025-11-14T02:21:51.834" v="13" actId="207"/>
          <ac:spMkLst>
            <pc:docMk/>
            <pc:sldMk cId="3130187958" sldId="265"/>
            <ac:spMk id="4" creationId="{B071930D-ED85-D499-48FC-0D4DC40A8E98}"/>
          </ac:spMkLst>
        </pc:spChg>
        <pc:spChg chg="add mod">
          <ac:chgData name="Likhitha k" userId="9c3a5a375a870a6f" providerId="LiveId" clId="{FC012E74-5459-4133-AE0D-4744DBCFF038}" dt="2025-11-14T02:22:11.252" v="18" actId="207"/>
          <ac:spMkLst>
            <pc:docMk/>
            <pc:sldMk cId="3130187958" sldId="265"/>
            <ac:spMk id="6" creationId="{0A23234C-B276-16DB-E04F-BB901A83EA56}"/>
          </ac:spMkLst>
        </pc:spChg>
        <pc:spChg chg="add mod">
          <ac:chgData name="Likhitha k" userId="9c3a5a375a870a6f" providerId="LiveId" clId="{FC012E74-5459-4133-AE0D-4744DBCFF038}" dt="2025-11-14T02:22:52.776" v="23" actId="207"/>
          <ac:spMkLst>
            <pc:docMk/>
            <pc:sldMk cId="3130187958" sldId="265"/>
            <ac:spMk id="8" creationId="{020C6143-2147-81FE-6732-B715F5689E72}"/>
          </ac:spMkLst>
        </pc:spChg>
        <pc:spChg chg="add mod">
          <ac:chgData name="Likhitha k" userId="9c3a5a375a870a6f" providerId="LiveId" clId="{FC012E74-5459-4133-AE0D-4744DBCFF038}" dt="2025-11-14T02:26:58.978" v="54" actId="1076"/>
          <ac:spMkLst>
            <pc:docMk/>
            <pc:sldMk cId="3130187958" sldId="265"/>
            <ac:spMk id="12" creationId="{613A4D41-3A56-17B9-1E51-C89AC58ADD6F}"/>
          </ac:spMkLst>
        </pc:spChg>
        <pc:spChg chg="add mod">
          <ac:chgData name="Likhitha k" userId="9c3a5a375a870a6f" providerId="LiveId" clId="{FC012E74-5459-4133-AE0D-4744DBCFF038}" dt="2025-11-14T02:26:26.769" v="46" actId="207"/>
          <ac:spMkLst>
            <pc:docMk/>
            <pc:sldMk cId="3130187958" sldId="265"/>
            <ac:spMk id="16" creationId="{D6ED17B9-9655-03F6-4AAC-D86F1B9FDF8D}"/>
          </ac:spMkLst>
        </pc:spChg>
        <pc:spChg chg="add mod">
          <ac:chgData name="Likhitha k" userId="9c3a5a375a870a6f" providerId="LiveId" clId="{FC012E74-5459-4133-AE0D-4744DBCFF038}" dt="2025-11-14T02:27:12.401" v="60" actId="207"/>
          <ac:spMkLst>
            <pc:docMk/>
            <pc:sldMk cId="3130187958" sldId="265"/>
            <ac:spMk id="18" creationId="{FF3EDFA3-EC27-C640-EDD0-B8161FA7E0C4}"/>
          </ac:spMkLst>
        </pc:spChg>
        <pc:picChg chg="add mod">
          <ac:chgData name="Likhitha k" userId="9c3a5a375a870a6f" providerId="LiveId" clId="{FC012E74-5459-4133-AE0D-4744DBCFF038}" dt="2025-11-14T02:23:49.548" v="26" actId="1440"/>
          <ac:picMkLst>
            <pc:docMk/>
            <pc:sldMk cId="3130187958" sldId="265"/>
            <ac:picMk id="10" creationId="{34DD22AA-0F1B-D339-66E3-9D4395D8EC7A}"/>
          </ac:picMkLst>
        </pc:picChg>
        <pc:picChg chg="add mod modCrop">
          <ac:chgData name="Likhitha k" userId="9c3a5a375a870a6f" providerId="LiveId" clId="{FC012E74-5459-4133-AE0D-4744DBCFF038}" dt="2025-11-14T02:26:54.362" v="53" actId="1076"/>
          <ac:picMkLst>
            <pc:docMk/>
            <pc:sldMk cId="3130187958" sldId="265"/>
            <ac:picMk id="14" creationId="{4365355D-B983-573F-DD2E-0EF6FB9F4682}"/>
          </ac:picMkLst>
        </pc:picChg>
        <pc:picChg chg="add mod">
          <ac:chgData name="Likhitha k" userId="9c3a5a375a870a6f" providerId="LiveId" clId="{FC012E74-5459-4133-AE0D-4744DBCFF038}" dt="2025-11-14T02:28:05.555" v="65" actId="1440"/>
          <ac:picMkLst>
            <pc:docMk/>
            <pc:sldMk cId="3130187958" sldId="265"/>
            <ac:picMk id="20" creationId="{AE39763F-7252-850B-FAD4-7FD0C691FC5D}"/>
          </ac:picMkLst>
        </pc:picChg>
        <pc:picChg chg="add mod">
          <ac:chgData name="Likhitha k" userId="9c3a5a375a870a6f" providerId="LiveId" clId="{FC012E74-5459-4133-AE0D-4744DBCFF038}" dt="2025-11-14T02:28:14.336" v="67" actId="1076"/>
          <ac:picMkLst>
            <pc:docMk/>
            <pc:sldMk cId="3130187958" sldId="265"/>
            <ac:picMk id="22" creationId="{47673422-E75E-252F-02CE-0C38A24BE180}"/>
          </ac:picMkLst>
        </pc:picChg>
        <pc:picChg chg="add mod">
          <ac:chgData name="Likhitha k" userId="9c3a5a375a870a6f" providerId="LiveId" clId="{FC012E74-5459-4133-AE0D-4744DBCFF038}" dt="2025-11-14T02:28:34.328" v="70" actId="1440"/>
          <ac:picMkLst>
            <pc:docMk/>
            <pc:sldMk cId="3130187958" sldId="265"/>
            <ac:picMk id="24" creationId="{7508E7B9-0FF7-6882-8883-137A381D53FD}"/>
          </ac:picMkLst>
        </pc:picChg>
      </pc:sldChg>
      <pc:sldChg chg="del modTransition">
        <pc:chgData name="Likhitha k" userId="9c3a5a375a870a6f" providerId="LiveId" clId="{FC012E74-5459-4133-AE0D-4744DBCFF038}" dt="2025-11-14T15:50:34.862" v="278" actId="2696"/>
        <pc:sldMkLst>
          <pc:docMk/>
          <pc:sldMk cId="394565763" sldId="266"/>
        </pc:sldMkLst>
      </pc:sldChg>
      <pc:sldChg chg="addSp modSp del mod modTransition">
        <pc:chgData name="Likhitha k" userId="9c3a5a375a870a6f" providerId="LiveId" clId="{FC012E74-5459-4133-AE0D-4744DBCFF038}" dt="2025-11-14T15:49:07.403" v="277" actId="2696"/>
        <pc:sldMkLst>
          <pc:docMk/>
          <pc:sldMk cId="2850674861" sldId="267"/>
        </pc:sldMkLst>
        <pc:spChg chg="add mod">
          <ac:chgData name="Likhitha k" userId="9c3a5a375a870a6f" providerId="LiveId" clId="{FC012E74-5459-4133-AE0D-4744DBCFF038}" dt="2025-11-14T02:29:12.758" v="75" actId="207"/>
          <ac:spMkLst>
            <pc:docMk/>
            <pc:sldMk cId="2850674861" sldId="267"/>
            <ac:spMk id="4" creationId="{20E2BCE7-5C7C-79A4-9D12-13A2D53A568F}"/>
          </ac:spMkLst>
        </pc:spChg>
        <pc:spChg chg="add mod">
          <ac:chgData name="Likhitha k" userId="9c3a5a375a870a6f" providerId="LiveId" clId="{FC012E74-5459-4133-AE0D-4744DBCFF038}" dt="2025-11-14T02:31:57.053" v="97" actId="1076"/>
          <ac:spMkLst>
            <pc:docMk/>
            <pc:sldMk cId="2850674861" sldId="267"/>
            <ac:spMk id="8" creationId="{881C57DD-20BC-B185-1623-E5A9E3E8312A}"/>
          </ac:spMkLst>
        </pc:spChg>
        <pc:picChg chg="add mod">
          <ac:chgData name="Likhitha k" userId="9c3a5a375a870a6f" providerId="LiveId" clId="{FC012E74-5459-4133-AE0D-4744DBCFF038}" dt="2025-11-14T02:29:31.321" v="79" actId="1440"/>
          <ac:picMkLst>
            <pc:docMk/>
            <pc:sldMk cId="2850674861" sldId="267"/>
            <ac:picMk id="6" creationId="{F9860BDC-B142-BDF7-558A-F638564A8B6C}"/>
          </ac:picMkLst>
        </pc:picChg>
        <pc:picChg chg="add mod">
          <ac:chgData name="Likhitha k" userId="9c3a5a375a870a6f" providerId="LiveId" clId="{FC012E74-5459-4133-AE0D-4744DBCFF038}" dt="2025-11-14T02:32:01.584" v="98" actId="1076"/>
          <ac:picMkLst>
            <pc:docMk/>
            <pc:sldMk cId="2850674861" sldId="267"/>
            <ac:picMk id="10" creationId="{8797CA01-AEDD-AF80-BE79-76C2389C7800}"/>
          </ac:picMkLst>
        </pc:picChg>
      </pc:sldChg>
      <pc:sldChg chg="addSp modSp del mod modTransition">
        <pc:chgData name="Likhitha k" userId="9c3a5a375a870a6f" providerId="LiveId" clId="{FC012E74-5459-4133-AE0D-4744DBCFF038}" dt="2025-11-14T15:49:07.403" v="277" actId="2696"/>
        <pc:sldMkLst>
          <pc:docMk/>
          <pc:sldMk cId="4126345803" sldId="268"/>
        </pc:sldMkLst>
        <pc:spChg chg="add mod">
          <ac:chgData name="Likhitha k" userId="9c3a5a375a870a6f" providerId="LiveId" clId="{FC012E74-5459-4133-AE0D-4744DBCFF038}" dt="2025-11-14T02:32:20.743" v="103" actId="2711"/>
          <ac:spMkLst>
            <pc:docMk/>
            <pc:sldMk cId="4126345803" sldId="268"/>
            <ac:spMk id="4" creationId="{AFEFD571-9ED0-7ECE-057A-D16C342BF32A}"/>
          </ac:spMkLst>
        </pc:spChg>
        <pc:picChg chg="add mod">
          <ac:chgData name="Likhitha k" userId="9c3a5a375a870a6f" providerId="LiveId" clId="{FC012E74-5459-4133-AE0D-4744DBCFF038}" dt="2025-11-14T02:32:41.402" v="106" actId="1440"/>
          <ac:picMkLst>
            <pc:docMk/>
            <pc:sldMk cId="4126345803" sldId="268"/>
            <ac:picMk id="6" creationId="{8CA16003-49A0-A6E8-CA38-B5C74B0DD86E}"/>
          </ac:picMkLst>
        </pc:picChg>
      </pc:sldChg>
      <pc:sldChg chg="addSp modSp mod modTransition">
        <pc:chgData name="Likhitha k" userId="9c3a5a375a870a6f" providerId="LiveId" clId="{FC012E74-5459-4133-AE0D-4744DBCFF038}" dt="2025-11-14T03:21:43.798" v="213"/>
        <pc:sldMkLst>
          <pc:docMk/>
          <pc:sldMk cId="4152278812" sldId="269"/>
        </pc:sldMkLst>
        <pc:picChg chg="add mod">
          <ac:chgData name="Likhitha k" userId="9c3a5a375a870a6f" providerId="LiveId" clId="{FC012E74-5459-4133-AE0D-4744DBCFF038}" dt="2025-11-14T02:33:51.335" v="112" actId="14100"/>
          <ac:picMkLst>
            <pc:docMk/>
            <pc:sldMk cId="4152278812" sldId="269"/>
            <ac:picMk id="4" creationId="{C8FD4F81-91B0-4EBE-FBDC-58970F2C02FF}"/>
          </ac:picMkLst>
        </pc:picChg>
      </pc:sldChg>
      <pc:sldChg chg="addSp modSp mod modTransition">
        <pc:chgData name="Likhitha k" userId="9c3a5a375a870a6f" providerId="LiveId" clId="{FC012E74-5459-4133-AE0D-4744DBCFF038}" dt="2025-11-14T03:21:43.798" v="213"/>
        <pc:sldMkLst>
          <pc:docMk/>
          <pc:sldMk cId="2445397296" sldId="270"/>
        </pc:sldMkLst>
        <pc:picChg chg="add mod">
          <ac:chgData name="Likhitha k" userId="9c3a5a375a870a6f" providerId="LiveId" clId="{FC012E74-5459-4133-AE0D-4744DBCFF038}" dt="2025-11-14T02:34:33.549" v="117" actId="14100"/>
          <ac:picMkLst>
            <pc:docMk/>
            <pc:sldMk cId="2445397296" sldId="270"/>
            <ac:picMk id="4" creationId="{648520E8-5C41-D6D0-A7EB-EA02487D301D}"/>
          </ac:picMkLst>
        </pc:picChg>
      </pc:sldChg>
      <pc:sldChg chg="addSp delSp modSp mod modTransition">
        <pc:chgData name="Likhitha k" userId="9c3a5a375a870a6f" providerId="LiveId" clId="{FC012E74-5459-4133-AE0D-4744DBCFF038}" dt="2025-11-14T03:21:43.798" v="213"/>
        <pc:sldMkLst>
          <pc:docMk/>
          <pc:sldMk cId="1853419740" sldId="271"/>
        </pc:sldMkLst>
        <pc:picChg chg="add del mod">
          <ac:chgData name="Likhitha k" userId="9c3a5a375a870a6f" providerId="LiveId" clId="{FC012E74-5459-4133-AE0D-4744DBCFF038}" dt="2025-11-14T02:35:58.651" v="121" actId="21"/>
          <ac:picMkLst>
            <pc:docMk/>
            <pc:sldMk cId="1853419740" sldId="271"/>
            <ac:picMk id="4" creationId="{7EABF416-B459-91D1-C2ED-6ADCF29D04B8}"/>
          </ac:picMkLst>
        </pc:picChg>
        <pc:picChg chg="add mod">
          <ac:chgData name="Likhitha k" userId="9c3a5a375a870a6f" providerId="LiveId" clId="{FC012E74-5459-4133-AE0D-4744DBCFF038}" dt="2025-11-14T02:36:24.130" v="124" actId="14100"/>
          <ac:picMkLst>
            <pc:docMk/>
            <pc:sldMk cId="1853419740" sldId="271"/>
            <ac:picMk id="6" creationId="{DD16823D-2D2A-698D-A8AB-221DC8889307}"/>
          </ac:picMkLst>
        </pc:picChg>
      </pc:sldChg>
      <pc:sldChg chg="addSp modSp mod modTransition">
        <pc:chgData name="Likhitha k" userId="9c3a5a375a870a6f" providerId="LiveId" clId="{FC012E74-5459-4133-AE0D-4744DBCFF038}" dt="2025-11-14T03:21:43.798" v="213"/>
        <pc:sldMkLst>
          <pc:docMk/>
          <pc:sldMk cId="1192975619" sldId="272"/>
        </pc:sldMkLst>
        <pc:picChg chg="add mod">
          <ac:chgData name="Likhitha k" userId="9c3a5a375a870a6f" providerId="LiveId" clId="{FC012E74-5459-4133-AE0D-4744DBCFF038}" dt="2025-11-14T02:37:02.593" v="130" actId="14100"/>
          <ac:picMkLst>
            <pc:docMk/>
            <pc:sldMk cId="1192975619" sldId="272"/>
            <ac:picMk id="4" creationId="{970FF9CE-FB24-EAA5-F128-5CBD2807FF48}"/>
          </ac:picMkLst>
        </pc:picChg>
      </pc:sldChg>
      <pc:sldChg chg="addSp modSp mod modTransition">
        <pc:chgData name="Likhitha k" userId="9c3a5a375a870a6f" providerId="LiveId" clId="{FC012E74-5459-4133-AE0D-4744DBCFF038}" dt="2025-11-14T15:48:46.897" v="276" actId="1076"/>
        <pc:sldMkLst>
          <pc:docMk/>
          <pc:sldMk cId="2683175930" sldId="273"/>
        </pc:sldMkLst>
        <pc:spChg chg="add mod">
          <ac:chgData name="Likhitha k" userId="9c3a5a375a870a6f" providerId="LiveId" clId="{FC012E74-5459-4133-AE0D-4744DBCFF038}" dt="2025-11-14T02:40:00.181" v="151" actId="14100"/>
          <ac:spMkLst>
            <pc:docMk/>
            <pc:sldMk cId="2683175930" sldId="273"/>
            <ac:spMk id="4" creationId="{2401F813-A9A6-A161-BC01-BCFAF9C6E69A}"/>
          </ac:spMkLst>
        </pc:spChg>
        <pc:spChg chg="add mod">
          <ac:chgData name="Likhitha k" userId="9c3a5a375a870a6f" providerId="LiveId" clId="{FC012E74-5459-4133-AE0D-4744DBCFF038}" dt="2025-11-14T02:39:44.653" v="149" actId="207"/>
          <ac:spMkLst>
            <pc:docMk/>
            <pc:sldMk cId="2683175930" sldId="273"/>
            <ac:spMk id="5" creationId="{0D8661A5-680C-E2A0-2E01-7BD0B86C1359}"/>
          </ac:spMkLst>
        </pc:spChg>
        <pc:picChg chg="add mod">
          <ac:chgData name="Likhitha k" userId="9c3a5a375a870a6f" providerId="LiveId" clId="{FC012E74-5459-4133-AE0D-4744DBCFF038}" dt="2025-11-14T15:48:46.897" v="276" actId="1076"/>
          <ac:picMkLst>
            <pc:docMk/>
            <pc:sldMk cId="2683175930" sldId="273"/>
            <ac:picMk id="7170" creationId="{ACBD489A-3331-E0D3-3CFD-F4E30612BAFE}"/>
          </ac:picMkLst>
        </pc:picChg>
      </pc:sldChg>
      <pc:sldChg chg="addSp modSp mod ord modTransition">
        <pc:chgData name="Likhitha k" userId="9c3a5a375a870a6f" providerId="LiveId" clId="{FC012E74-5459-4133-AE0D-4744DBCFF038}" dt="2025-11-14T03:21:43.798" v="213"/>
        <pc:sldMkLst>
          <pc:docMk/>
          <pc:sldMk cId="3624465466" sldId="274"/>
        </pc:sldMkLst>
        <pc:spChg chg="add mod">
          <ac:chgData name="Likhitha k" userId="9c3a5a375a870a6f" providerId="LiveId" clId="{FC012E74-5459-4133-AE0D-4744DBCFF038}" dt="2025-11-14T03:18:02.987" v="189" actId="14100"/>
          <ac:spMkLst>
            <pc:docMk/>
            <pc:sldMk cId="3624465466" sldId="274"/>
            <ac:spMk id="4" creationId="{8B0082B3-38C7-49E7-C7C4-5C2B0686561C}"/>
          </ac:spMkLst>
        </pc:spChg>
        <pc:spChg chg="add mod">
          <ac:chgData name="Likhitha k" userId="9c3a5a375a870a6f" providerId="LiveId" clId="{FC012E74-5459-4133-AE0D-4744DBCFF038}" dt="2025-11-14T03:17:58.542" v="188" actId="207"/>
          <ac:spMkLst>
            <pc:docMk/>
            <pc:sldMk cId="3624465466" sldId="274"/>
            <ac:spMk id="5" creationId="{640A0707-2269-F0D7-7B5A-EC3C9115C71B}"/>
          </ac:spMkLst>
        </pc:spChg>
      </pc:sldChg>
      <pc:sldChg chg="addSp modSp modTransition">
        <pc:chgData name="Likhitha k" userId="9c3a5a375a870a6f" providerId="LiveId" clId="{FC012E74-5459-4133-AE0D-4744DBCFF038}" dt="2025-11-14T03:21:43.798" v="213"/>
        <pc:sldMkLst>
          <pc:docMk/>
          <pc:sldMk cId="3951457868" sldId="275"/>
        </pc:sldMkLst>
        <pc:picChg chg="add mod">
          <ac:chgData name="Likhitha k" userId="9c3a5a375a870a6f" providerId="LiveId" clId="{FC012E74-5459-4133-AE0D-4744DBCFF038}" dt="2025-11-14T03:19:30.306" v="194" actId="1440"/>
          <ac:picMkLst>
            <pc:docMk/>
            <pc:sldMk cId="3951457868" sldId="275"/>
            <ac:picMk id="1026" creationId="{E99D3ED2-D27D-5B21-B65E-EF051FB98BD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86F94B-5CDA-44EA-89C3-CD315C569C9C}"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1681224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6F94B-5CDA-44EA-89C3-CD315C569C9C}"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2572039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86F94B-5CDA-44EA-89C3-CD315C569C9C}"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1111641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86F94B-5CDA-44EA-89C3-CD315C569C9C}"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3350709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86F94B-5CDA-44EA-89C3-CD315C569C9C}" type="datetimeFigureOut">
              <a:rPr lang="en-IN" smtClean="0"/>
              <a:t>14-11-2025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2696520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86F94B-5CDA-44EA-89C3-CD315C569C9C}" type="datetimeFigureOut">
              <a:rPr lang="en-IN" smtClean="0"/>
              <a:t>14-11-2025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61903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86F94B-5CDA-44EA-89C3-CD315C569C9C}" type="datetimeFigureOut">
              <a:rPr lang="en-IN" smtClean="0"/>
              <a:t>14-11-2025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3482150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86F94B-5CDA-44EA-89C3-CD315C569C9C}"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2600126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86F94B-5CDA-44EA-89C3-CD315C569C9C}"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2121705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86F94B-5CDA-44EA-89C3-CD315C569C9C}"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1531326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86F94B-5CDA-44EA-89C3-CD315C569C9C}"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416129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86F94B-5CDA-44EA-89C3-CD315C569C9C}"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482383-95DE-492C-8BB1-59AD7D12E1C5}"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07753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86F94B-5CDA-44EA-89C3-CD315C569C9C}"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1059047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386F94B-5CDA-44EA-89C3-CD315C569C9C}" type="datetimeFigureOut">
              <a:rPr lang="en-IN" smtClean="0"/>
              <a:t>14-11-2025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137988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386F94B-5CDA-44EA-89C3-CD315C569C9C}" type="datetimeFigureOut">
              <a:rPr lang="en-IN" smtClean="0"/>
              <a:t>14-11-2025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1823616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6F94B-5CDA-44EA-89C3-CD315C569C9C}"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1958626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6F94B-5CDA-44EA-89C3-CD315C569C9C}"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482383-95DE-492C-8BB1-59AD7D12E1C5}" type="slidenum">
              <a:rPr lang="en-IN" smtClean="0"/>
              <a:t>‹#›</a:t>
            </a:fld>
            <a:endParaRPr lang="en-IN"/>
          </a:p>
        </p:txBody>
      </p:sp>
    </p:spTree>
    <p:extLst>
      <p:ext uri="{BB962C8B-B14F-4D97-AF65-F5344CB8AC3E}">
        <p14:creationId xmlns:p14="http://schemas.microsoft.com/office/powerpoint/2010/main" val="1174884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386F94B-5CDA-44EA-89C3-CD315C569C9C}" type="datetimeFigureOut">
              <a:rPr lang="en-IN" smtClean="0"/>
              <a:t>14-11-2025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6482383-95DE-492C-8BB1-59AD7D12E1C5}" type="slidenum">
              <a:rPr lang="en-IN" smtClean="0"/>
              <a:t>‹#›</a:t>
            </a:fld>
            <a:endParaRPr lang="en-IN"/>
          </a:p>
        </p:txBody>
      </p:sp>
    </p:spTree>
    <p:extLst>
      <p:ext uri="{BB962C8B-B14F-4D97-AF65-F5344CB8AC3E}">
        <p14:creationId xmlns:p14="http://schemas.microsoft.com/office/powerpoint/2010/main" val="2309424544"/>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98;p1">
            <a:extLst>
              <a:ext uri="{FF2B5EF4-FFF2-40B4-BE49-F238E27FC236}">
                <a16:creationId xmlns:a16="http://schemas.microsoft.com/office/drawing/2014/main" id="{8E3F91D9-085E-7220-37DB-FE0C9786E763}"/>
              </a:ext>
            </a:extLst>
          </p:cNvPr>
          <p:cNvPicPr preferRelativeResize="0"/>
          <p:nvPr/>
        </p:nvPicPr>
        <p:blipFill rotWithShape="1">
          <a:blip r:embed="rId2">
            <a:alphaModFix/>
          </a:blip>
          <a:srcRect/>
          <a:stretch/>
        </p:blipFill>
        <p:spPr>
          <a:xfrm>
            <a:off x="1185" y="0"/>
            <a:ext cx="12190815" cy="6858000"/>
          </a:xfrm>
          <a:prstGeom prst="rect">
            <a:avLst/>
          </a:prstGeom>
          <a:noFill/>
          <a:ln>
            <a:noFill/>
          </a:ln>
        </p:spPr>
      </p:pic>
      <p:sp>
        <p:nvSpPr>
          <p:cNvPr id="3" name="TextBox 2">
            <a:extLst>
              <a:ext uri="{FF2B5EF4-FFF2-40B4-BE49-F238E27FC236}">
                <a16:creationId xmlns:a16="http://schemas.microsoft.com/office/drawing/2014/main" id="{08E7CCB3-524D-8F18-E662-C2B0C238B981}"/>
              </a:ext>
            </a:extLst>
          </p:cNvPr>
          <p:cNvSpPr txBox="1"/>
          <p:nvPr/>
        </p:nvSpPr>
        <p:spPr>
          <a:xfrm>
            <a:off x="6629400" y="5595730"/>
            <a:ext cx="4552123" cy="923330"/>
          </a:xfrm>
          <a:prstGeom prst="rect">
            <a:avLst/>
          </a:prstGeom>
          <a:noFill/>
        </p:spPr>
        <p:txBody>
          <a:bodyPr wrap="square">
            <a:spAutoFit/>
          </a:bodyPr>
          <a:lstStyle/>
          <a:p>
            <a:r>
              <a:rPr lang="en-US" sz="1800" b="1" dirty="0">
                <a:solidFill>
                  <a:schemeClr val="bg1">
                    <a:lumMod val="95000"/>
                    <a:lumOff val="5000"/>
                  </a:schemeClr>
                </a:solidFill>
                <a:latin typeface="Times New Roman" panose="02020603050405020304" pitchFamily="18" charset="0"/>
                <a:cs typeface="Times New Roman" panose="02020603050405020304" pitchFamily="18" charset="0"/>
              </a:rPr>
              <a:t>KANDACHARAM LIKHITHA</a:t>
            </a:r>
          </a:p>
          <a:p>
            <a:r>
              <a:rPr lang="en-US" sz="1800" b="1" dirty="0">
                <a:solidFill>
                  <a:schemeClr val="bg1">
                    <a:lumMod val="95000"/>
                    <a:lumOff val="5000"/>
                  </a:schemeClr>
                </a:solidFill>
                <a:latin typeface="Times New Roman" panose="02020603050405020304" pitchFamily="18" charset="0"/>
                <a:cs typeface="Times New Roman" panose="02020603050405020304" pitchFamily="18" charset="0"/>
              </a:rPr>
              <a:t>BATCH NO:403</a:t>
            </a:r>
          </a:p>
          <a:p>
            <a:r>
              <a:rPr lang="en-US" sz="1800" b="1" dirty="0">
                <a:solidFill>
                  <a:schemeClr val="bg1">
                    <a:lumMod val="95000"/>
                    <a:lumOff val="5000"/>
                  </a:schemeClr>
                </a:solidFill>
                <a:latin typeface="Times New Roman" panose="02020603050405020304" pitchFamily="18" charset="0"/>
                <a:cs typeface="Times New Roman" panose="02020603050405020304" pitchFamily="18" charset="0"/>
              </a:rPr>
              <a:t>Innomatics Research Labs, Dilshuknagar</a:t>
            </a:r>
            <a:endParaRPr lang="en-IN" sz="1800" b="1"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3224B2F-E43B-F50D-02E7-A2AC764FE4B5}"/>
              </a:ext>
            </a:extLst>
          </p:cNvPr>
          <p:cNvSpPr txBox="1"/>
          <p:nvPr/>
        </p:nvSpPr>
        <p:spPr>
          <a:xfrm>
            <a:off x="3071192" y="3667539"/>
            <a:ext cx="6311348" cy="584775"/>
          </a:xfrm>
          <a:prstGeom prst="rect">
            <a:avLst/>
          </a:prstGeom>
          <a:noFill/>
        </p:spPr>
        <p:txBody>
          <a:bodyPr wrap="square" rtlCol="0">
            <a:spAutoFit/>
          </a:bodyPr>
          <a:lstStyle/>
          <a:p>
            <a:pPr algn="ctr"/>
            <a:r>
              <a:rPr lang="en-US" sz="3200" b="1" dirty="0">
                <a:solidFill>
                  <a:schemeClr val="bg1">
                    <a:lumMod val="95000"/>
                    <a:lumOff val="5000"/>
                  </a:schemeClr>
                </a:solidFill>
                <a:latin typeface="Times New Roman" panose="02020603050405020304" pitchFamily="18" charset="0"/>
                <a:cs typeface="Times New Roman" panose="02020603050405020304" pitchFamily="18" charset="0"/>
              </a:rPr>
              <a:t>Bank Customer Segmentation</a:t>
            </a:r>
            <a:endParaRPr lang="en-IN" sz="3200" b="1"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73893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5138C-678E-2E20-DB46-B18C1EAEAF3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D314574-F147-240D-5CC8-601D3AC10106}"/>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884F9402-E23A-A4BA-A475-879E592E7802}"/>
              </a:ext>
            </a:extLst>
          </p:cNvPr>
          <p:cNvSpPr txBox="1"/>
          <p:nvPr/>
        </p:nvSpPr>
        <p:spPr>
          <a:xfrm>
            <a:off x="884583" y="1003852"/>
            <a:ext cx="2206487" cy="523220"/>
          </a:xfrm>
          <a:prstGeom prst="rect">
            <a:avLst/>
          </a:prstGeom>
          <a:noFill/>
        </p:spPr>
        <p:txBody>
          <a:bodyPr wrap="square">
            <a:spAutoFit/>
          </a:bodyPr>
          <a:lstStyle/>
          <a:p>
            <a:r>
              <a:rPr lang="en-IN" sz="2800" b="1" dirty="0">
                <a:solidFill>
                  <a:srgbClr val="00B0F0"/>
                </a:solidFill>
                <a:latin typeface="Times New Roman" panose="02020603050405020304" pitchFamily="18" charset="0"/>
                <a:cs typeface="Times New Roman" panose="02020603050405020304" pitchFamily="18" charset="0"/>
              </a:rPr>
              <a:t>Contents</a:t>
            </a:r>
          </a:p>
        </p:txBody>
      </p:sp>
      <p:sp>
        <p:nvSpPr>
          <p:cNvPr id="6" name="TextBox 5">
            <a:extLst>
              <a:ext uri="{FF2B5EF4-FFF2-40B4-BE49-F238E27FC236}">
                <a16:creationId xmlns:a16="http://schemas.microsoft.com/office/drawing/2014/main" id="{3328370A-FF16-68A0-5D22-981D76343A76}"/>
              </a:ext>
            </a:extLst>
          </p:cNvPr>
          <p:cNvSpPr txBox="1"/>
          <p:nvPr/>
        </p:nvSpPr>
        <p:spPr>
          <a:xfrm>
            <a:off x="964096" y="1858617"/>
            <a:ext cx="8182388" cy="3170099"/>
          </a:xfrm>
          <a:prstGeom prst="rect">
            <a:avLst/>
          </a:prstGeom>
          <a:noFill/>
        </p:spPr>
        <p:txBody>
          <a:bodyPr wrap="square">
            <a:spAutoFit/>
          </a:bodyPr>
          <a:lstStyle/>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Introduction</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Problem Statement</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Data Collection</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Data Cleaning</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Cleaned Data</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Data Modeling</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Measures Using DAX(</a:t>
            </a:r>
            <a:r>
              <a:rPr lang="en-IN" sz="2000" b="1" dirty="0">
                <a:latin typeface="Times New Roman" panose="02020603050405020304" pitchFamily="18" charset="0"/>
                <a:cs typeface="Times New Roman" panose="02020603050405020304" pitchFamily="18" charset="0"/>
              </a:rPr>
              <a:t>Data Analysis Expressions)</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Data Visualization</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Insights</a:t>
            </a: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Conclusion</a:t>
            </a:r>
          </a:p>
        </p:txBody>
      </p:sp>
      <p:pic>
        <p:nvPicPr>
          <p:cNvPr id="2050" name="Picture 2" descr="Download High Quality Royalty Free Bank Building Blue S PowerPoint Icons  and Bank Building Blue S 3D presentation graphics and icons">
            <a:extLst>
              <a:ext uri="{FF2B5EF4-FFF2-40B4-BE49-F238E27FC236}">
                <a16:creationId xmlns:a16="http://schemas.microsoft.com/office/drawing/2014/main" id="{CE8A5C1A-0125-7A0A-6EDC-FE6964143E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2782" y="4074386"/>
            <a:ext cx="2952750" cy="25717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6290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64B36-C972-E0FC-BA43-B4907FEFABF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B125DBE-AEAC-3D9B-3A71-6B5A70E6A3FD}"/>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752CFBC5-16D5-0E28-F8A2-AB1082B90C65}"/>
              </a:ext>
            </a:extLst>
          </p:cNvPr>
          <p:cNvSpPr txBox="1"/>
          <p:nvPr/>
        </p:nvSpPr>
        <p:spPr>
          <a:xfrm>
            <a:off x="844826" y="1311965"/>
            <a:ext cx="4174435" cy="584775"/>
          </a:xfrm>
          <a:prstGeom prst="rect">
            <a:avLst/>
          </a:prstGeom>
          <a:noFill/>
        </p:spPr>
        <p:txBody>
          <a:bodyPr wrap="square">
            <a:spAutoFit/>
          </a:bodyPr>
          <a:lstStyle/>
          <a:p>
            <a:pPr>
              <a:buNone/>
            </a:pPr>
            <a:r>
              <a:rPr lang="en-US" sz="3200" b="1" dirty="0">
                <a:solidFill>
                  <a:srgbClr val="00B0F0"/>
                </a:solidFill>
                <a:latin typeface="Times New Roman" panose="02020603050405020304" pitchFamily="18" charset="0"/>
                <a:cs typeface="Times New Roman" panose="02020603050405020304" pitchFamily="18" charset="0"/>
              </a:rPr>
              <a:t>Introduction</a:t>
            </a:r>
          </a:p>
        </p:txBody>
      </p:sp>
      <p:sp>
        <p:nvSpPr>
          <p:cNvPr id="6" name="TextBox 5">
            <a:extLst>
              <a:ext uri="{FF2B5EF4-FFF2-40B4-BE49-F238E27FC236}">
                <a16:creationId xmlns:a16="http://schemas.microsoft.com/office/drawing/2014/main" id="{AB992166-8599-C643-7809-168A95955E7C}"/>
              </a:ext>
            </a:extLst>
          </p:cNvPr>
          <p:cNvSpPr txBox="1"/>
          <p:nvPr/>
        </p:nvSpPr>
        <p:spPr>
          <a:xfrm>
            <a:off x="844826" y="2345635"/>
            <a:ext cx="10376451" cy="224676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Bank Customer Segmentation project aims to analyze customer and transaction data using Power BI to help the bank make informed business decisions. It focuses on understanding customer demographics, spending behavior, and account activity. By applying RFM (Recency, Frequency, Monetary) analysis, customers are grouped into segments such as Loyal, New, and Lost. This helps the bank identify profitable customers, improve retention strategies, and manage risks effectively. The interactive dashboard provides meaningful insights that support better customer engagement and business growth.</a:t>
            </a:r>
            <a:endParaRPr lang="en-IN" sz="2000" dirty="0">
              <a:latin typeface="Times New Roman" panose="02020603050405020304" pitchFamily="18" charset="0"/>
              <a:cs typeface="Times New Roman" panose="02020603050405020304" pitchFamily="18" charset="0"/>
            </a:endParaRPr>
          </a:p>
        </p:txBody>
      </p:sp>
      <p:sp>
        <p:nvSpPr>
          <p:cNvPr id="3" name="AutoShape 2" descr="Small Piggy Bank With Many Coins Falling On The Ground Powerpoint  Background For Free Download - Slidesdocs">
            <a:extLst>
              <a:ext uri="{FF2B5EF4-FFF2-40B4-BE49-F238E27FC236}">
                <a16:creationId xmlns:a16="http://schemas.microsoft.com/office/drawing/2014/main" id="{EBCED4B3-9BCB-D07F-B28C-14E940672BCD}"/>
              </a:ext>
            </a:extLst>
          </p:cNvPr>
          <p:cNvSpPr>
            <a:spLocks noChangeAspect="1" noChangeArrowheads="1"/>
          </p:cNvSpPr>
          <p:nvPr/>
        </p:nvSpPr>
        <p:spPr bwMode="auto">
          <a:xfrm>
            <a:off x="5943599" y="3276599"/>
            <a:ext cx="4611757" cy="291547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1CAC5F32-7FFA-8532-B237-40191131E039}"/>
              </a:ext>
            </a:extLst>
          </p:cNvPr>
          <p:cNvPicPr>
            <a:picLocks noChangeAspect="1"/>
          </p:cNvPicPr>
          <p:nvPr/>
        </p:nvPicPr>
        <p:blipFill>
          <a:blip r:embed="rId3"/>
          <a:stretch>
            <a:fillRect/>
          </a:stretch>
        </p:blipFill>
        <p:spPr>
          <a:xfrm>
            <a:off x="8249477" y="4829500"/>
            <a:ext cx="3932583" cy="2028500"/>
          </a:xfrm>
          <a:prstGeom prst="rect">
            <a:avLst/>
          </a:prstGeom>
          <a:ln>
            <a:noFill/>
          </a:ln>
          <a:effectLst>
            <a:softEdge rad="112500"/>
          </a:effectLst>
        </p:spPr>
      </p:pic>
    </p:spTree>
    <p:extLst>
      <p:ext uri="{BB962C8B-B14F-4D97-AF65-F5344CB8AC3E}">
        <p14:creationId xmlns:p14="http://schemas.microsoft.com/office/powerpoint/2010/main" val="36550256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61AE4-AD9A-4BEF-2792-42ED72878AB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E0EBC1E-B734-89A9-BDA1-240AA7DFF04D}"/>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7EDA20AB-5042-4977-217C-5685713B7BA4}"/>
              </a:ext>
            </a:extLst>
          </p:cNvPr>
          <p:cNvSpPr txBox="1"/>
          <p:nvPr/>
        </p:nvSpPr>
        <p:spPr>
          <a:xfrm>
            <a:off x="983975" y="1987826"/>
            <a:ext cx="10505660" cy="193899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Banks collect a huge amount of customer and transaction data every day, but much of it is not properly used. The main problem is that the bank finds it difficult to understand customer behavior, know which customers are most valuable, and identify possible risks. Without these insights, it becomes hard to offer personalized services or make the right business decisions. This project helps solve these issues by using Power BI to analyze and visualize customer data, making it easier to segment customers and take smarter, data-based decisions</a:t>
            </a:r>
            <a:r>
              <a:rPr lang="en-US" dirty="0"/>
              <a:t>.</a:t>
            </a:r>
          </a:p>
        </p:txBody>
      </p:sp>
      <p:sp>
        <p:nvSpPr>
          <p:cNvPr id="6" name="TextBox 5">
            <a:extLst>
              <a:ext uri="{FF2B5EF4-FFF2-40B4-BE49-F238E27FC236}">
                <a16:creationId xmlns:a16="http://schemas.microsoft.com/office/drawing/2014/main" id="{9D33062F-852F-B533-FCD5-77979B24CA7F}"/>
              </a:ext>
            </a:extLst>
          </p:cNvPr>
          <p:cNvSpPr txBox="1"/>
          <p:nvPr/>
        </p:nvSpPr>
        <p:spPr>
          <a:xfrm>
            <a:off x="983975" y="1113182"/>
            <a:ext cx="8331475" cy="523220"/>
          </a:xfrm>
          <a:prstGeom prst="rect">
            <a:avLst/>
          </a:prstGeom>
          <a:noFill/>
        </p:spPr>
        <p:txBody>
          <a:bodyPr wrap="square">
            <a:spAutoFit/>
          </a:bodyPr>
          <a:lstStyle/>
          <a:p>
            <a:pPr>
              <a:buNone/>
            </a:pPr>
            <a:r>
              <a:rPr lang="en-US" sz="2800" b="1" dirty="0">
                <a:solidFill>
                  <a:srgbClr val="00B0F0"/>
                </a:solidFill>
                <a:latin typeface="Times New Roman" panose="02020603050405020304" pitchFamily="18" charset="0"/>
                <a:cs typeface="Times New Roman" panose="02020603050405020304" pitchFamily="18" charset="0"/>
              </a:rPr>
              <a:t>Problem Statement</a:t>
            </a:r>
          </a:p>
        </p:txBody>
      </p:sp>
      <p:pic>
        <p:nvPicPr>
          <p:cNvPr id="2050" name="Picture 2" descr="Toy Bank Stock Illustrations – 17,643 Toy Bank Stock Illustrations, Vectors  &amp; Clipart - Dreamstime">
            <a:extLst>
              <a:ext uri="{FF2B5EF4-FFF2-40B4-BE49-F238E27FC236}">
                <a16:creationId xmlns:a16="http://schemas.microsoft.com/office/drawing/2014/main" id="{3B7CCEE2-7F25-0647-5E79-6BF7D147F5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7896" y="4735996"/>
            <a:ext cx="3588025" cy="201764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24082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C0AD4-CBE9-1726-465C-C413A337527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1F843EB-A075-54DC-C9A0-BFDF138CF6FB}"/>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08C0C3D4-6A9B-9130-637E-C5C9A407EC8A}"/>
              </a:ext>
            </a:extLst>
          </p:cNvPr>
          <p:cNvSpPr txBox="1"/>
          <p:nvPr/>
        </p:nvSpPr>
        <p:spPr>
          <a:xfrm>
            <a:off x="715617" y="1859340"/>
            <a:ext cx="10764077" cy="1477328"/>
          </a:xfrm>
          <a:prstGeom prst="rect">
            <a:avLst/>
          </a:prstGeom>
          <a:noFill/>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understand customer details like age, gender, and location through clear visual analysis.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study how customers spend and how their transactions change over time.</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divide customers into groups such as Loyal, New, and Lost using RFM analysis.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find out which customers bring more profit and which ones may have higher risk.</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create an interactive Power BI dashboard that helps the bank make better and faster business decisions.</a:t>
            </a:r>
          </a:p>
        </p:txBody>
      </p:sp>
      <p:sp>
        <p:nvSpPr>
          <p:cNvPr id="6" name="TextBox 5">
            <a:extLst>
              <a:ext uri="{FF2B5EF4-FFF2-40B4-BE49-F238E27FC236}">
                <a16:creationId xmlns:a16="http://schemas.microsoft.com/office/drawing/2014/main" id="{61344B6D-5975-E88E-4DF6-7B002C49A98A}"/>
              </a:ext>
            </a:extLst>
          </p:cNvPr>
          <p:cNvSpPr txBox="1"/>
          <p:nvPr/>
        </p:nvSpPr>
        <p:spPr>
          <a:xfrm>
            <a:off x="715617" y="924339"/>
            <a:ext cx="8430867" cy="523220"/>
          </a:xfrm>
          <a:prstGeom prst="rect">
            <a:avLst/>
          </a:prstGeom>
          <a:noFill/>
        </p:spPr>
        <p:txBody>
          <a:bodyPr wrap="square">
            <a:spAutoFit/>
          </a:bodyPr>
          <a:lstStyle/>
          <a:p>
            <a:pPr>
              <a:buNone/>
            </a:pPr>
            <a:r>
              <a:rPr lang="en-US" sz="2800" b="1" dirty="0">
                <a:solidFill>
                  <a:srgbClr val="00B0F0"/>
                </a:solidFill>
                <a:latin typeface="Times New Roman" panose="02020603050405020304" pitchFamily="18" charset="0"/>
                <a:cs typeface="Times New Roman" panose="02020603050405020304" pitchFamily="18" charset="0"/>
              </a:rPr>
              <a:t>Project Objectives</a:t>
            </a:r>
          </a:p>
        </p:txBody>
      </p:sp>
      <p:pic>
        <p:nvPicPr>
          <p:cNvPr id="3074" name="Picture 2" descr="Toy Bank Safe Cash Stock Illustrations – 2,947 Toy Bank Safe Cash Stock  Illustrations, Vectors &amp; Clipart - Dreamstime">
            <a:extLst>
              <a:ext uri="{FF2B5EF4-FFF2-40B4-BE49-F238E27FC236}">
                <a16:creationId xmlns:a16="http://schemas.microsoft.com/office/drawing/2014/main" id="{D3FB3626-641D-B8CD-D7A0-C5160EAB4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6983" y="4306524"/>
            <a:ext cx="3306072" cy="234275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443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EF61-09B7-2570-A64B-6B66AD8FD8F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9D900EE-6DB7-C16C-A9B8-5D4F9838C3A4}"/>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C3025511-396A-F332-7202-55C9EDCD5527}"/>
              </a:ext>
            </a:extLst>
          </p:cNvPr>
          <p:cNvSpPr txBox="1"/>
          <p:nvPr/>
        </p:nvSpPr>
        <p:spPr>
          <a:xfrm>
            <a:off x="685800" y="1948069"/>
            <a:ext cx="9283148" cy="3170099"/>
          </a:xfrm>
          <a:prstGeom prst="rect">
            <a:avLst/>
          </a:prstGeom>
          <a:noFill/>
        </p:spPr>
        <p:txBody>
          <a:bodyPr wrap="square">
            <a:spAutoFit/>
          </a:bodyPr>
          <a:lstStyle/>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TransactionID – Unique ID assigned to each individual transaction. </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CustomerID – Identifier linking each transaction to a specific customer. </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CustomerDOB – Date of birth of the customer, useful for calculating age.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CustGender – Gender of the customer (e.g., Male, Female).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CustLocation – Geographic location or city of the customer.</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CustAccountBalance – Account balance at the time of the transaction. </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TransactionDate – The date when the transaction occurred.</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TransactionTime – The exact time the transaction was executed. </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TransactionAmount (INR) – The amount of money involved in the transaction in INR.</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A4FA88B-0A24-082B-D956-7ACE4F2596D5}"/>
              </a:ext>
            </a:extLst>
          </p:cNvPr>
          <p:cNvSpPr txBox="1"/>
          <p:nvPr/>
        </p:nvSpPr>
        <p:spPr>
          <a:xfrm>
            <a:off x="586409" y="1063487"/>
            <a:ext cx="8560075" cy="523220"/>
          </a:xfrm>
          <a:prstGeom prst="rect">
            <a:avLst/>
          </a:prstGeom>
          <a:noFill/>
        </p:spPr>
        <p:txBody>
          <a:bodyPr wrap="square">
            <a:spAutoFit/>
          </a:bodyPr>
          <a:lstStyle/>
          <a:p>
            <a:r>
              <a:rPr lang="en-IN" sz="2800" b="1" dirty="0">
                <a:solidFill>
                  <a:srgbClr val="00B0F0"/>
                </a:solidFill>
                <a:latin typeface="Times New Roman" panose="02020603050405020304" pitchFamily="18" charset="0"/>
                <a:cs typeface="Times New Roman" panose="02020603050405020304" pitchFamily="18" charset="0"/>
              </a:rPr>
              <a:t>Collected Data</a:t>
            </a:r>
          </a:p>
        </p:txBody>
      </p:sp>
      <p:pic>
        <p:nvPicPr>
          <p:cNvPr id="4098" name="Picture 2" descr="BAREPEPE Premium Piggy Bank For Kids Electronic Atm Money Bank With  Password And Finger Sensor Lock (Blue, Modern) : Amazon.in: Toys &amp; Games">
            <a:extLst>
              <a:ext uri="{FF2B5EF4-FFF2-40B4-BE49-F238E27FC236}">
                <a16:creationId xmlns:a16="http://schemas.microsoft.com/office/drawing/2014/main" id="{E509001E-0980-25EC-FCC4-97C0CEED48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5522" y="5028716"/>
            <a:ext cx="3203712" cy="168516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7487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F2D85-40CB-4DC9-9159-4AB8691D13D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D92431B-91DC-75F7-7172-CC7BF2133C41}"/>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65EDE6DF-F3FF-8D24-9AD3-292D2B4C8BFC}"/>
              </a:ext>
            </a:extLst>
          </p:cNvPr>
          <p:cNvSpPr txBox="1"/>
          <p:nvPr/>
        </p:nvSpPr>
        <p:spPr>
          <a:xfrm>
            <a:off x="655983" y="1699591"/>
            <a:ext cx="10754139" cy="4524315"/>
          </a:xfrm>
          <a:prstGeom prst="rect">
            <a:avLst/>
          </a:prstGeom>
          <a:noFill/>
        </p:spPr>
        <p:txBody>
          <a:bodyPr wrap="square">
            <a:spAutoFit/>
          </a:bodyPr>
          <a:lstStyle/>
          <a:p>
            <a:pPr marL="285750" indent="-285750">
              <a:buFont typeface="Wingdings" panose="05000000000000000000" pitchFamily="2" charset="2"/>
              <a:buChar char="ü"/>
            </a:pPr>
            <a:r>
              <a:rPr lang="en-US" b="1" dirty="0">
                <a:solidFill>
                  <a:schemeClr val="accent1">
                    <a:lumMod val="60000"/>
                    <a:lumOff val="40000"/>
                  </a:schemeClr>
                </a:solidFill>
                <a:latin typeface="Times New Roman" panose="02020603050405020304" pitchFamily="18" charset="0"/>
                <a:cs typeface="Times New Roman" panose="02020603050405020304" pitchFamily="18" charset="0"/>
              </a:rPr>
              <a:t>Identify Data Source: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data was collected from the bank’s transaction system, which records customer and transaction details.</a:t>
            </a:r>
          </a:p>
          <a:p>
            <a:pPr marL="285750" indent="-285750">
              <a:buFont typeface="Wingdings" panose="05000000000000000000" pitchFamily="2" charset="2"/>
              <a:buChar char="ü"/>
            </a:pPr>
            <a:r>
              <a:rPr lang="en-US" b="1" dirty="0">
                <a:solidFill>
                  <a:schemeClr val="accent1">
                    <a:lumMod val="60000"/>
                    <a:lumOff val="40000"/>
                  </a:schemeClr>
                </a:solidFill>
                <a:latin typeface="Times New Roman" panose="02020603050405020304" pitchFamily="18" charset="0"/>
                <a:cs typeface="Times New Roman" panose="02020603050405020304" pitchFamily="18" charset="0"/>
              </a:rPr>
              <a:t>Select Required Fields: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Important columns like Customer ID, Date of Birth, Gender, Location, Account Balance, Transaction Date, Time, and Transaction Amount were chosen for analysis.</a:t>
            </a:r>
          </a:p>
          <a:p>
            <a:pPr marL="285750" indent="-285750">
              <a:buFont typeface="Wingdings" panose="05000000000000000000" pitchFamily="2" charset="2"/>
              <a:buChar char="ü"/>
            </a:pPr>
            <a:r>
              <a:rPr lang="en-US" b="1" dirty="0">
                <a:solidFill>
                  <a:schemeClr val="accent1">
                    <a:lumMod val="60000"/>
                    <a:lumOff val="40000"/>
                  </a:schemeClr>
                </a:solidFill>
                <a:latin typeface="Times New Roman" panose="02020603050405020304" pitchFamily="18" charset="0"/>
                <a:cs typeface="Times New Roman" panose="02020603050405020304" pitchFamily="18" charset="0"/>
              </a:rPr>
              <a:t>Export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selected data was exported from the system into a CSV (Comma-Separated Values) file for easy handling and sharing.</a:t>
            </a:r>
          </a:p>
          <a:p>
            <a:pPr marL="285750" indent="-285750">
              <a:buFont typeface="Wingdings" panose="05000000000000000000" pitchFamily="2" charset="2"/>
              <a:buChar char="ü"/>
            </a:pPr>
            <a:r>
              <a:rPr lang="en-US" b="1" dirty="0">
                <a:solidFill>
                  <a:schemeClr val="accent1">
                    <a:lumMod val="60000"/>
                    <a:lumOff val="40000"/>
                  </a:schemeClr>
                </a:solidFill>
                <a:latin typeface="Times New Roman" panose="02020603050405020304" pitchFamily="18" charset="0"/>
                <a:cs typeface="Times New Roman" panose="02020603050405020304" pitchFamily="18" charset="0"/>
              </a:rPr>
              <a:t>Verify Data Quality: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CSV file was checked for missing values, incorrect formats, and duplicate records to ensure accuracy.</a:t>
            </a:r>
          </a:p>
          <a:p>
            <a:pPr marL="285750" indent="-285750">
              <a:buFont typeface="Wingdings" panose="05000000000000000000" pitchFamily="2" charset="2"/>
              <a:buChar char="ü"/>
            </a:pPr>
            <a:r>
              <a:rPr lang="en-US" b="1" dirty="0">
                <a:solidFill>
                  <a:schemeClr val="accent1">
                    <a:lumMod val="60000"/>
                    <a:lumOff val="40000"/>
                  </a:schemeClr>
                </a:solidFill>
                <a:latin typeface="Times New Roman" panose="02020603050405020304" pitchFamily="18" charset="0"/>
                <a:cs typeface="Times New Roman" panose="02020603050405020304" pitchFamily="18" charset="0"/>
              </a:rPr>
              <a:t>Load Data into Power BI:</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cleaned CSV file was imported into Power BI for transformation, visualization, and analysis.</a:t>
            </a: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buNone/>
            </a:pPr>
            <a:br>
              <a:rPr lang="en-US" dirty="0"/>
            </a:br>
            <a:endParaRPr lang="en-US" dirty="0"/>
          </a:p>
        </p:txBody>
      </p:sp>
      <p:sp>
        <p:nvSpPr>
          <p:cNvPr id="6" name="TextBox 5">
            <a:extLst>
              <a:ext uri="{FF2B5EF4-FFF2-40B4-BE49-F238E27FC236}">
                <a16:creationId xmlns:a16="http://schemas.microsoft.com/office/drawing/2014/main" id="{A4C8FA10-D03E-1B7E-DE4A-AAE28F453B4B}"/>
              </a:ext>
            </a:extLst>
          </p:cNvPr>
          <p:cNvSpPr txBox="1"/>
          <p:nvPr/>
        </p:nvSpPr>
        <p:spPr>
          <a:xfrm>
            <a:off x="546652" y="1003852"/>
            <a:ext cx="8599832" cy="523220"/>
          </a:xfrm>
          <a:prstGeom prst="rect">
            <a:avLst/>
          </a:prstGeom>
          <a:noFill/>
        </p:spPr>
        <p:txBody>
          <a:bodyPr wrap="square">
            <a:spAutoFit/>
          </a:bodyPr>
          <a:lstStyle/>
          <a:p>
            <a:pPr>
              <a:buNone/>
            </a:pPr>
            <a:r>
              <a:rPr lang="en-US" sz="2800" b="1" dirty="0">
                <a:solidFill>
                  <a:srgbClr val="00B0F0"/>
                </a:solidFill>
                <a:latin typeface="Times New Roman" panose="02020603050405020304" pitchFamily="18" charset="0"/>
                <a:cs typeface="Times New Roman" panose="02020603050405020304" pitchFamily="18" charset="0"/>
              </a:rPr>
              <a:t>Steps for Collecting the Data</a:t>
            </a:r>
          </a:p>
        </p:txBody>
      </p:sp>
    </p:spTree>
    <p:extLst>
      <p:ext uri="{BB962C8B-B14F-4D97-AF65-F5344CB8AC3E}">
        <p14:creationId xmlns:p14="http://schemas.microsoft.com/office/powerpoint/2010/main" val="2690662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5227-71A9-E608-223A-9A5A15D3CC2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9BF2F53-3FCD-F8C3-B7E8-33912D480A43}"/>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065331EE-2797-CE1A-21F1-04BF01D61DE6}"/>
              </a:ext>
            </a:extLst>
          </p:cNvPr>
          <p:cNvSpPr txBox="1"/>
          <p:nvPr/>
        </p:nvSpPr>
        <p:spPr>
          <a:xfrm>
            <a:off x="815008" y="1963648"/>
            <a:ext cx="8053180" cy="2031325"/>
          </a:xfrm>
          <a:prstGeom prst="rect">
            <a:avLst/>
          </a:prstGeom>
          <a:noFill/>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Removed duplicate records to keep only unique transactions.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Fixed wrong data types for date, time, and number columns.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Replaced missing or blank values with correct or default values.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Standardized gender names.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Converted date of birth into age and created age groups.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Checked for negative or invalid transaction amounts and corrected them.</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Ensured all columns were clean and ready for analysis in Power BI.</a:t>
            </a:r>
          </a:p>
        </p:txBody>
      </p:sp>
      <p:sp>
        <p:nvSpPr>
          <p:cNvPr id="6" name="TextBox 5">
            <a:extLst>
              <a:ext uri="{FF2B5EF4-FFF2-40B4-BE49-F238E27FC236}">
                <a16:creationId xmlns:a16="http://schemas.microsoft.com/office/drawing/2014/main" id="{C41A2D85-02FD-BEA9-38F0-5F2BD10811BB}"/>
              </a:ext>
            </a:extLst>
          </p:cNvPr>
          <p:cNvSpPr txBox="1"/>
          <p:nvPr/>
        </p:nvSpPr>
        <p:spPr>
          <a:xfrm>
            <a:off x="964096" y="914400"/>
            <a:ext cx="8182388" cy="461665"/>
          </a:xfrm>
          <a:prstGeom prst="rect">
            <a:avLst/>
          </a:prstGeom>
          <a:noFill/>
        </p:spPr>
        <p:txBody>
          <a:bodyPr wrap="square">
            <a:spAutoFit/>
          </a:bodyPr>
          <a:lstStyle/>
          <a:p>
            <a:pPr>
              <a:buNone/>
            </a:pPr>
            <a:r>
              <a:rPr lang="en-US" sz="2400" b="1" dirty="0">
                <a:solidFill>
                  <a:srgbClr val="00B0F0"/>
                </a:solidFill>
              </a:rPr>
              <a:t>Data Cleaning Steps</a:t>
            </a:r>
          </a:p>
        </p:txBody>
      </p:sp>
      <p:pic>
        <p:nvPicPr>
          <p:cNvPr id="5122" name="Picture 2" descr="Kidstech Digital Counting Money Jar,Big Piggy Bank,Piggy Bank for Kids,Piggy  Bank Digital Counting Coin Bank,Money Saving Jar,Holds Over in 800,Powered  by 2AAA Battery (Not Included) - Toys 4 U">
            <a:extLst>
              <a:ext uri="{FF2B5EF4-FFF2-40B4-BE49-F238E27FC236}">
                <a16:creationId xmlns:a16="http://schemas.microsoft.com/office/drawing/2014/main" id="{6111FF67-5632-8C60-10D2-8FFEFBA8A7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8188" y="4419784"/>
            <a:ext cx="3128341" cy="222949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3794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E3830-7E2E-9368-F6DD-446BEE5245C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5098717-32D5-941D-FD5A-41E00E084DA9}"/>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0108AD07-EE21-B656-BF09-012B9DB3DD39}"/>
              </a:ext>
            </a:extLst>
          </p:cNvPr>
          <p:cNvSpPr txBox="1"/>
          <p:nvPr/>
        </p:nvSpPr>
        <p:spPr>
          <a:xfrm>
            <a:off x="844826" y="2097157"/>
            <a:ext cx="8301658" cy="2031325"/>
          </a:xfrm>
          <a:prstGeom prst="rect">
            <a:avLst/>
          </a:prstGeom>
          <a:noFill/>
        </p:spPr>
        <p:txBody>
          <a:bodyPr wrap="square">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Customer_RFM</a:t>
            </a:r>
            <a:r>
              <a:rPr lang="en-US" dirty="0">
                <a:latin typeface="Times New Roman" panose="02020603050405020304" pitchFamily="18" charset="0"/>
                <a:cs typeface="Times New Roman" panose="02020603050405020304" pitchFamily="18" charset="0"/>
              </a:rPr>
              <a:t> table was created to store one record for each customer.</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This table contains important details like RFM scores, customer segments, and risk levels.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one-to-many relationship</a:t>
            </a:r>
            <a:r>
              <a:rPr lang="en-US" dirty="0">
                <a:latin typeface="Times New Roman" panose="02020603050405020304" pitchFamily="18" charset="0"/>
                <a:cs typeface="Times New Roman" panose="02020603050405020304" pitchFamily="18" charset="0"/>
              </a:rPr>
              <a:t> was made between the Customer_RFM table and the bank_transactions table using </a:t>
            </a:r>
            <a:r>
              <a:rPr lang="en-US" b="1" dirty="0">
                <a:latin typeface="Times New Roman" panose="02020603050405020304" pitchFamily="18" charset="0"/>
                <a:cs typeface="Times New Roman" panose="02020603050405020304" pitchFamily="18" charset="0"/>
              </a:rPr>
              <a:t>CustomerID</a:t>
            </a:r>
            <a:r>
              <a:rPr lang="en-US"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This setup helps filter and view each customer’s complete transaction and financial details correctly in Power BI.</a:t>
            </a:r>
          </a:p>
        </p:txBody>
      </p:sp>
      <p:sp>
        <p:nvSpPr>
          <p:cNvPr id="6" name="TextBox 5">
            <a:extLst>
              <a:ext uri="{FF2B5EF4-FFF2-40B4-BE49-F238E27FC236}">
                <a16:creationId xmlns:a16="http://schemas.microsoft.com/office/drawing/2014/main" id="{481F49CA-B1F2-7374-A673-3F1380F260E0}"/>
              </a:ext>
            </a:extLst>
          </p:cNvPr>
          <p:cNvSpPr txBox="1"/>
          <p:nvPr/>
        </p:nvSpPr>
        <p:spPr>
          <a:xfrm>
            <a:off x="735496" y="1232452"/>
            <a:ext cx="8410988" cy="461665"/>
          </a:xfrm>
          <a:prstGeom prst="rect">
            <a:avLst/>
          </a:prstGeom>
          <a:noFill/>
        </p:spPr>
        <p:txBody>
          <a:bodyPr wrap="square">
            <a:spAutoFit/>
          </a:bodyPr>
          <a:lstStyle/>
          <a:p>
            <a:pPr>
              <a:buNone/>
            </a:pPr>
            <a:r>
              <a:rPr lang="en-US" sz="2400" b="1" dirty="0">
                <a:solidFill>
                  <a:srgbClr val="00B0F0"/>
                </a:solidFill>
                <a:latin typeface="Times New Roman" panose="02020603050405020304" pitchFamily="18" charset="0"/>
                <a:cs typeface="Times New Roman" panose="02020603050405020304" pitchFamily="18" charset="0"/>
              </a:rPr>
              <a:t>Data Modeling</a:t>
            </a:r>
          </a:p>
        </p:txBody>
      </p:sp>
      <p:pic>
        <p:nvPicPr>
          <p:cNvPr id="6146" name="Picture 2">
            <a:extLst>
              <a:ext uri="{FF2B5EF4-FFF2-40B4-BE49-F238E27FC236}">
                <a16:creationId xmlns:a16="http://schemas.microsoft.com/office/drawing/2014/main" id="{707FD498-0021-C768-6219-3B40C54D74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946" t="12064" r="734" b="7072"/>
          <a:stretch>
            <a:fillRect/>
          </a:stretch>
        </p:blipFill>
        <p:spPr bwMode="auto">
          <a:xfrm>
            <a:off x="9481931" y="4224130"/>
            <a:ext cx="2564296" cy="246490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77616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57818-39F1-BA2C-7DC2-7735BC00BC3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280098-9FC9-F537-3044-B59CFC4D2975}"/>
              </a:ext>
            </a:extLst>
          </p:cNvPr>
          <p:cNvPicPr>
            <a:picLocks noChangeAspect="1"/>
          </p:cNvPicPr>
          <p:nvPr/>
        </p:nvPicPr>
        <p:blipFill>
          <a:blip r:embed="rId2"/>
          <a:stretch>
            <a:fillRect/>
          </a:stretch>
        </p:blipFill>
        <p:spPr>
          <a:xfrm>
            <a:off x="0" y="0"/>
            <a:ext cx="2857899" cy="485843"/>
          </a:xfrm>
          <a:prstGeom prst="rect">
            <a:avLst/>
          </a:prstGeom>
        </p:spPr>
      </p:pic>
      <p:pic>
        <p:nvPicPr>
          <p:cNvPr id="4" name="Picture 3">
            <a:extLst>
              <a:ext uri="{FF2B5EF4-FFF2-40B4-BE49-F238E27FC236}">
                <a16:creationId xmlns:a16="http://schemas.microsoft.com/office/drawing/2014/main" id="{C8FD4F81-91B0-4EBE-FBDC-58970F2C02FF}"/>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41522788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5511E-DBBA-CD4E-06E3-BB55888787C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A953165-CFEA-3D4D-DF74-47018798226C}"/>
              </a:ext>
            </a:extLst>
          </p:cNvPr>
          <p:cNvPicPr>
            <a:picLocks noChangeAspect="1"/>
          </p:cNvPicPr>
          <p:nvPr/>
        </p:nvPicPr>
        <p:blipFill>
          <a:blip r:embed="rId2"/>
          <a:stretch>
            <a:fillRect/>
          </a:stretch>
        </p:blipFill>
        <p:spPr>
          <a:xfrm>
            <a:off x="0" y="0"/>
            <a:ext cx="2857899" cy="485843"/>
          </a:xfrm>
          <a:prstGeom prst="rect">
            <a:avLst/>
          </a:prstGeom>
        </p:spPr>
      </p:pic>
      <p:pic>
        <p:nvPicPr>
          <p:cNvPr id="4" name="Picture 3">
            <a:extLst>
              <a:ext uri="{FF2B5EF4-FFF2-40B4-BE49-F238E27FC236}">
                <a16:creationId xmlns:a16="http://schemas.microsoft.com/office/drawing/2014/main" id="{648520E8-5C41-D6D0-A7EB-EA02487D301D}"/>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4453972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EA08E-8E07-B441-3447-670D3073AC4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C674510-B20D-956C-EAB4-73A85A5F10BC}"/>
              </a:ext>
            </a:extLst>
          </p:cNvPr>
          <p:cNvPicPr>
            <a:picLocks noChangeAspect="1"/>
          </p:cNvPicPr>
          <p:nvPr/>
        </p:nvPicPr>
        <p:blipFill>
          <a:blip r:embed="rId2"/>
          <a:stretch>
            <a:fillRect/>
          </a:stretch>
        </p:blipFill>
        <p:spPr>
          <a:xfrm>
            <a:off x="0" y="0"/>
            <a:ext cx="2857899" cy="485843"/>
          </a:xfrm>
          <a:prstGeom prst="rect">
            <a:avLst/>
          </a:prstGeom>
        </p:spPr>
      </p:pic>
      <p:pic>
        <p:nvPicPr>
          <p:cNvPr id="6" name="Picture 5">
            <a:extLst>
              <a:ext uri="{FF2B5EF4-FFF2-40B4-BE49-F238E27FC236}">
                <a16:creationId xmlns:a16="http://schemas.microsoft.com/office/drawing/2014/main" id="{DD16823D-2D2A-698D-A8AB-221DC8889307}"/>
              </a:ext>
            </a:extLst>
          </p:cNvPr>
          <p:cNvPicPr>
            <a:picLocks noChangeAspect="1"/>
          </p:cNvPicPr>
          <p:nvPr/>
        </p:nvPicPr>
        <p:blipFill>
          <a:blip r:embed="rId3"/>
          <a:stretch>
            <a:fillRect/>
          </a:stretch>
        </p:blipFill>
        <p:spPr>
          <a:xfrm>
            <a:off x="0" y="0"/>
            <a:ext cx="12191999" cy="6858000"/>
          </a:xfrm>
          <a:prstGeom prst="rect">
            <a:avLst/>
          </a:prstGeom>
        </p:spPr>
      </p:pic>
    </p:spTree>
    <p:extLst>
      <p:ext uri="{BB962C8B-B14F-4D97-AF65-F5344CB8AC3E}">
        <p14:creationId xmlns:p14="http://schemas.microsoft.com/office/powerpoint/2010/main" val="18534197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83B9-5A94-3DBC-DDCD-BAF8CA59E21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F904231-BBAF-F72C-7FC2-20EEB50E76DF}"/>
              </a:ext>
            </a:extLst>
          </p:cNvPr>
          <p:cNvPicPr>
            <a:picLocks noChangeAspect="1"/>
          </p:cNvPicPr>
          <p:nvPr/>
        </p:nvPicPr>
        <p:blipFill>
          <a:blip r:embed="rId2"/>
          <a:stretch>
            <a:fillRect/>
          </a:stretch>
        </p:blipFill>
        <p:spPr>
          <a:xfrm>
            <a:off x="0" y="0"/>
            <a:ext cx="2857899" cy="485843"/>
          </a:xfrm>
          <a:prstGeom prst="rect">
            <a:avLst/>
          </a:prstGeom>
        </p:spPr>
      </p:pic>
      <p:pic>
        <p:nvPicPr>
          <p:cNvPr id="4" name="Picture 3">
            <a:extLst>
              <a:ext uri="{FF2B5EF4-FFF2-40B4-BE49-F238E27FC236}">
                <a16:creationId xmlns:a16="http://schemas.microsoft.com/office/drawing/2014/main" id="{970FF9CE-FB24-EAA5-F128-5CBD2807FF48}"/>
              </a:ext>
            </a:extLst>
          </p:cNvPr>
          <p:cNvPicPr>
            <a:picLocks noChangeAspect="1"/>
          </p:cNvPicPr>
          <p:nvPr/>
        </p:nvPicPr>
        <p:blipFill>
          <a:blip r:embed="rId3"/>
          <a:stretch>
            <a:fillRect/>
          </a:stretch>
        </p:blipFill>
        <p:spPr>
          <a:xfrm>
            <a:off x="-1" y="0"/>
            <a:ext cx="12192001" cy="6858000"/>
          </a:xfrm>
          <a:prstGeom prst="rect">
            <a:avLst/>
          </a:prstGeom>
        </p:spPr>
      </p:pic>
    </p:spTree>
    <p:extLst>
      <p:ext uri="{BB962C8B-B14F-4D97-AF65-F5344CB8AC3E}">
        <p14:creationId xmlns:p14="http://schemas.microsoft.com/office/powerpoint/2010/main" val="11929756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1308E-D627-095A-E7A4-43177F25EE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443C20F-AD09-ACA3-664D-902CB1238E00}"/>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8B0082B3-38C7-49E7-C7C4-5C2B0686561C}"/>
              </a:ext>
            </a:extLst>
          </p:cNvPr>
          <p:cNvSpPr txBox="1"/>
          <p:nvPr/>
        </p:nvSpPr>
        <p:spPr>
          <a:xfrm>
            <a:off x="854765" y="1630018"/>
            <a:ext cx="10751853" cy="4247317"/>
          </a:xfrm>
          <a:prstGeom prst="rect">
            <a:avLst/>
          </a:prstGeom>
          <a:noFill/>
        </p:spPr>
        <p:txBody>
          <a:bodyPr wrap="square">
            <a:spAutoFit/>
          </a:bodyPr>
          <a:lstStyle/>
          <a:p>
            <a:r>
              <a:rPr lang="en-US" b="1" dirty="0">
                <a:solidFill>
                  <a:srgbClr val="FFC000"/>
                </a:solidFill>
                <a:latin typeface="Times New Roman" panose="02020603050405020304" pitchFamily="18" charset="0"/>
                <a:cs typeface="Times New Roman" panose="02020603050405020304" pitchFamily="18" charset="0"/>
              </a:rPr>
              <a:t>Champions Drive the Bank’s Revenue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A – Champions</a:t>
            </a:r>
            <a:r>
              <a:rPr lang="en-US" dirty="0">
                <a:latin typeface="Times New Roman" panose="02020603050405020304" pitchFamily="18" charset="0"/>
                <a:cs typeface="Times New Roman" panose="02020603050405020304" pitchFamily="18" charset="0"/>
              </a:rPr>
              <a:t> group brings in the most money and uses the bank the most.</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Focus:</a:t>
            </a:r>
            <a:r>
              <a:rPr lang="en-US" dirty="0">
                <a:latin typeface="Times New Roman" panose="02020603050405020304" pitchFamily="18" charset="0"/>
                <a:cs typeface="Times New Roman" panose="02020603050405020304" pitchFamily="18" charset="0"/>
              </a:rPr>
              <a:t> Give them exclusive rewards and keep them highly engaged.</a:t>
            </a:r>
          </a:p>
          <a:p>
            <a:r>
              <a:rPr lang="en-US" b="1" dirty="0">
                <a:solidFill>
                  <a:srgbClr val="FFC000"/>
                </a:solidFill>
                <a:latin typeface="Times New Roman" panose="02020603050405020304" pitchFamily="18" charset="0"/>
                <a:cs typeface="Times New Roman" panose="02020603050405020304" pitchFamily="18" charset="0"/>
              </a:rPr>
              <a:t>Young Customers Dominate New Sign-ups</a:t>
            </a:r>
            <a:br>
              <a:rPr lang="en-US" dirty="0">
                <a:solidFill>
                  <a:srgbClr val="FFC000"/>
                </a:solidFill>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Most </a:t>
            </a:r>
            <a:r>
              <a:rPr lang="en-US" i="1" dirty="0">
                <a:latin typeface="Times New Roman" panose="02020603050405020304" pitchFamily="18" charset="0"/>
                <a:cs typeface="Times New Roman" panose="02020603050405020304" pitchFamily="18" charset="0"/>
              </a:rPr>
              <a:t>New Customers</a:t>
            </a:r>
            <a:r>
              <a:rPr lang="en-US" dirty="0">
                <a:latin typeface="Times New Roman" panose="02020603050405020304" pitchFamily="18" charset="0"/>
                <a:cs typeface="Times New Roman" panose="02020603050405020304" pitchFamily="18" charset="0"/>
              </a:rPr>
              <a:t> are in the </a:t>
            </a:r>
            <a:r>
              <a:rPr lang="en-US" b="1" dirty="0">
                <a:latin typeface="Times New Roman" panose="02020603050405020304" pitchFamily="18" charset="0"/>
                <a:cs typeface="Times New Roman" panose="02020603050405020304" pitchFamily="18" charset="0"/>
              </a:rPr>
              <a:t>20–40 age group</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Focus:</a:t>
            </a:r>
            <a:r>
              <a:rPr lang="en-US" dirty="0">
                <a:latin typeface="Times New Roman" panose="02020603050405020304" pitchFamily="18" charset="0"/>
                <a:cs typeface="Times New Roman" panose="02020603050405020304" pitchFamily="18" charset="0"/>
              </a:rPr>
              <a:t> Use digital ads and youth-friendly campaigns to grow this segment faster.</a:t>
            </a:r>
          </a:p>
          <a:p>
            <a:r>
              <a:rPr lang="en-US" b="1" dirty="0">
                <a:solidFill>
                  <a:srgbClr val="FFC000"/>
                </a:solidFill>
                <a:latin typeface="Times New Roman" panose="02020603050405020304" pitchFamily="18" charset="0"/>
                <a:cs typeface="Times New Roman" panose="02020603050405020304" pitchFamily="18" charset="0"/>
              </a:rPr>
              <a:t>Peak Activity Hours: 1 PM – 3 PM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highest number of transactions happen in this two-hour window.</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Focus:</a:t>
            </a:r>
            <a:r>
              <a:rPr lang="en-US" dirty="0">
                <a:latin typeface="Times New Roman" panose="02020603050405020304" pitchFamily="18" charset="0"/>
                <a:cs typeface="Times New Roman" panose="02020603050405020304" pitchFamily="18" charset="0"/>
              </a:rPr>
              <a:t> Avoid system maintenance and ensure full staff availability during this time.</a:t>
            </a:r>
          </a:p>
          <a:p>
            <a:r>
              <a:rPr lang="en-US" b="1" dirty="0">
                <a:solidFill>
                  <a:srgbClr val="FFC000"/>
                </a:solidFill>
                <a:latin typeface="Times New Roman" panose="02020603050405020304" pitchFamily="18" charset="0"/>
                <a:cs typeface="Times New Roman" panose="02020603050405020304" pitchFamily="18" charset="0"/>
              </a:rPr>
              <a:t>Top Risk–Value Customers Identified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clear list of the </a:t>
            </a:r>
            <a:r>
              <a:rPr lang="en-US" b="1" dirty="0">
                <a:latin typeface="Times New Roman" panose="02020603050405020304" pitchFamily="18" charset="0"/>
                <a:cs typeface="Times New Roman" panose="02020603050405020304" pitchFamily="18" charset="0"/>
              </a:rPr>
              <a:t>Top 10 high-revenue but high-risk customers</a:t>
            </a:r>
            <a:r>
              <a:rPr lang="en-US" dirty="0">
                <a:latin typeface="Times New Roman" panose="02020603050405020304" pitchFamily="18" charset="0"/>
                <a:cs typeface="Times New Roman" panose="02020603050405020304" pitchFamily="18" charset="0"/>
              </a:rPr>
              <a:t> is available.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Focus:</a:t>
            </a:r>
            <a:r>
              <a:rPr lang="en-US" dirty="0">
                <a:latin typeface="Times New Roman" panose="02020603050405020304" pitchFamily="18" charset="0"/>
                <a:cs typeface="Times New Roman" panose="02020603050405020304" pitchFamily="18" charset="0"/>
              </a:rPr>
              <a:t> Risk teams should review these customers immediately and set proper limits.</a:t>
            </a:r>
          </a:p>
          <a:p>
            <a:r>
              <a:rPr lang="en-US" b="1" dirty="0">
                <a:solidFill>
                  <a:srgbClr val="FFC000"/>
                </a:solidFill>
                <a:latin typeface="Times New Roman" panose="02020603050405020304" pitchFamily="18" charset="0"/>
                <a:cs typeface="Times New Roman" panose="02020603050405020304" pitchFamily="18" charset="0"/>
              </a:rPr>
              <a:t>Hyderabad &amp; Visakhapatnam Lead in Customer Volume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These two cities have the highest number of customers and revenue.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Focus:</a:t>
            </a:r>
            <a:r>
              <a:rPr lang="en-US" dirty="0">
                <a:latin typeface="Times New Roman" panose="02020603050405020304" pitchFamily="18" charset="0"/>
                <a:cs typeface="Times New Roman" panose="02020603050405020304" pitchFamily="18" charset="0"/>
              </a:rPr>
              <a:t> Direct marketing efforts, campaigns, and new branch planning to these locations.</a:t>
            </a:r>
          </a:p>
        </p:txBody>
      </p:sp>
      <p:sp>
        <p:nvSpPr>
          <p:cNvPr id="5" name="TextBox 4">
            <a:extLst>
              <a:ext uri="{FF2B5EF4-FFF2-40B4-BE49-F238E27FC236}">
                <a16:creationId xmlns:a16="http://schemas.microsoft.com/office/drawing/2014/main" id="{640A0707-2269-F0D7-7B5A-EC3C9115C71B}"/>
              </a:ext>
            </a:extLst>
          </p:cNvPr>
          <p:cNvSpPr txBox="1"/>
          <p:nvPr/>
        </p:nvSpPr>
        <p:spPr>
          <a:xfrm>
            <a:off x="775252" y="894522"/>
            <a:ext cx="4134678" cy="461665"/>
          </a:xfrm>
          <a:prstGeom prst="rect">
            <a:avLst/>
          </a:prstGeom>
          <a:noFill/>
        </p:spPr>
        <p:txBody>
          <a:bodyPr wrap="square" rtlCol="0">
            <a:spAutoFit/>
          </a:bodyPr>
          <a:lstStyle/>
          <a:p>
            <a:r>
              <a:rPr lang="en-US" sz="2400" b="1" dirty="0">
                <a:solidFill>
                  <a:srgbClr val="00B0F0"/>
                </a:solidFill>
              </a:rPr>
              <a:t>Insights</a:t>
            </a:r>
            <a:endParaRPr lang="en-IN" sz="2400" b="1" dirty="0">
              <a:solidFill>
                <a:srgbClr val="00B0F0"/>
              </a:solidFill>
            </a:endParaRPr>
          </a:p>
        </p:txBody>
      </p:sp>
    </p:spTree>
    <p:extLst>
      <p:ext uri="{BB962C8B-B14F-4D97-AF65-F5344CB8AC3E}">
        <p14:creationId xmlns:p14="http://schemas.microsoft.com/office/powerpoint/2010/main" val="36244654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DD148-FE45-153D-B450-EC91257E70F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F5DD6CA-200C-0C94-0292-A1FEF1FA1933}"/>
              </a:ext>
            </a:extLst>
          </p:cNvPr>
          <p:cNvPicPr>
            <a:picLocks noChangeAspect="1"/>
          </p:cNvPicPr>
          <p:nvPr/>
        </p:nvPicPr>
        <p:blipFill>
          <a:blip r:embed="rId2"/>
          <a:stretch>
            <a:fillRect/>
          </a:stretch>
        </p:blipFill>
        <p:spPr>
          <a:xfrm>
            <a:off x="0" y="0"/>
            <a:ext cx="2857899" cy="485843"/>
          </a:xfrm>
          <a:prstGeom prst="rect">
            <a:avLst/>
          </a:prstGeom>
        </p:spPr>
      </p:pic>
      <p:sp>
        <p:nvSpPr>
          <p:cNvPr id="4" name="TextBox 3">
            <a:extLst>
              <a:ext uri="{FF2B5EF4-FFF2-40B4-BE49-F238E27FC236}">
                <a16:creationId xmlns:a16="http://schemas.microsoft.com/office/drawing/2014/main" id="{2401F813-A9A6-A161-BC01-BCFAF9C6E69A}"/>
              </a:ext>
            </a:extLst>
          </p:cNvPr>
          <p:cNvSpPr txBox="1"/>
          <p:nvPr/>
        </p:nvSpPr>
        <p:spPr>
          <a:xfrm>
            <a:off x="725556" y="2091182"/>
            <a:ext cx="10833653" cy="2308324"/>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This project built a powerful and interactive Bank Customer Analytics system that goes far beyond basic reporting. Using RFM segmentation, we clearly identified our most valuable customers—especially the </a:t>
            </a:r>
            <a:r>
              <a:rPr lang="en-US" i="1" dirty="0">
                <a:latin typeface="Times New Roman" panose="02020603050405020304" pitchFamily="18" charset="0"/>
                <a:cs typeface="Times New Roman" panose="02020603050405020304" pitchFamily="18" charset="0"/>
              </a:rPr>
              <a:t>Champion</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Loyal</a:t>
            </a:r>
            <a:r>
              <a:rPr lang="en-US" dirty="0">
                <a:latin typeface="Times New Roman" panose="02020603050405020304" pitchFamily="18" charset="0"/>
                <a:cs typeface="Times New Roman" panose="02020603050405020304" pitchFamily="18" charset="0"/>
              </a:rPr>
              <a:t> groups—allowing the bank to design highly personalized retention strategies.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also added a Simulated Credit Score and Risk Level, giving the bank early visibility into potential financial risks, including the Top 10 high-revenue customers who also carry high risk.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Next, we’ll validate the RFM thresholds with experts, integrate the new Segment and Risk data into the CRM, and launch targeted campaigns using the demographic and behavioral insights from the dashboard.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sets the stage for stronger customer loyalty and smarter risk management.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D8661A5-680C-E2A0-2E01-7BD0B86C1359}"/>
              </a:ext>
            </a:extLst>
          </p:cNvPr>
          <p:cNvSpPr txBox="1"/>
          <p:nvPr/>
        </p:nvSpPr>
        <p:spPr>
          <a:xfrm>
            <a:off x="864704" y="824948"/>
            <a:ext cx="4134679" cy="461665"/>
          </a:xfrm>
          <a:prstGeom prst="rect">
            <a:avLst/>
          </a:prstGeom>
          <a:noFill/>
        </p:spPr>
        <p:txBody>
          <a:bodyPr wrap="square" rtlCol="0">
            <a:spAutoFit/>
          </a:bodyPr>
          <a:lstStyle/>
          <a:p>
            <a:r>
              <a:rPr lang="en-US" sz="2400" b="1" dirty="0">
                <a:solidFill>
                  <a:srgbClr val="00B0F0"/>
                </a:solidFill>
                <a:latin typeface="Times New Roman" panose="02020603050405020304" pitchFamily="18" charset="0"/>
                <a:cs typeface="Times New Roman" panose="02020603050405020304" pitchFamily="18" charset="0"/>
              </a:rPr>
              <a:t>Conclusion</a:t>
            </a:r>
            <a:endParaRPr lang="en-IN" sz="2400" b="1" dirty="0">
              <a:solidFill>
                <a:srgbClr val="00B0F0"/>
              </a:solidFill>
              <a:latin typeface="Times New Roman" panose="02020603050405020304" pitchFamily="18" charset="0"/>
              <a:cs typeface="Times New Roman" panose="02020603050405020304" pitchFamily="18" charset="0"/>
            </a:endParaRPr>
          </a:p>
        </p:txBody>
      </p:sp>
      <p:pic>
        <p:nvPicPr>
          <p:cNvPr id="7170" name="Picture 2">
            <a:extLst>
              <a:ext uri="{FF2B5EF4-FFF2-40B4-BE49-F238E27FC236}">
                <a16:creationId xmlns:a16="http://schemas.microsoft.com/office/drawing/2014/main" id="{ACBD489A-3331-E0D3-3CFD-F4E30612BA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373" t="11104" r="2563" b="4590"/>
          <a:stretch>
            <a:fillRect/>
          </a:stretch>
        </p:blipFill>
        <p:spPr bwMode="auto">
          <a:xfrm>
            <a:off x="10008704" y="4701209"/>
            <a:ext cx="2097156" cy="203752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175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EE1CD-EEBE-5FD1-89DF-C4866180197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A5A3626-001E-A4C6-4EE5-1EB519C107F0}"/>
              </a:ext>
            </a:extLst>
          </p:cNvPr>
          <p:cNvPicPr>
            <a:picLocks noChangeAspect="1"/>
          </p:cNvPicPr>
          <p:nvPr/>
        </p:nvPicPr>
        <p:blipFill>
          <a:blip r:embed="rId2"/>
          <a:stretch>
            <a:fillRect/>
          </a:stretch>
        </p:blipFill>
        <p:spPr>
          <a:xfrm>
            <a:off x="0" y="0"/>
            <a:ext cx="2857899" cy="485843"/>
          </a:xfrm>
          <a:prstGeom prst="rect">
            <a:avLst/>
          </a:prstGeom>
        </p:spPr>
      </p:pic>
      <p:pic>
        <p:nvPicPr>
          <p:cNvPr id="1026" name="Picture 2" descr="Focus Written Word Thank You On Stock Photo 472107949 | Shutterstock">
            <a:extLst>
              <a:ext uri="{FF2B5EF4-FFF2-40B4-BE49-F238E27FC236}">
                <a16:creationId xmlns:a16="http://schemas.microsoft.com/office/drawing/2014/main" id="{E99D3ED2-D27D-5B21-B65E-EF051FB98B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770"/>
          <a:stretch>
            <a:fillRect/>
          </a:stretch>
        </p:blipFill>
        <p:spPr bwMode="auto">
          <a:xfrm>
            <a:off x="1679713" y="2095500"/>
            <a:ext cx="8845826" cy="248643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4578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E8B826"/>
      </a:accent1>
      <a:accent2>
        <a:srgbClr val="E2CA72"/>
      </a:accent2>
      <a:accent3>
        <a:srgbClr val="BD723B"/>
      </a:accent3>
      <a:accent4>
        <a:srgbClr val="AE9376"/>
      </a:accent4>
      <a:accent5>
        <a:srgbClr val="A77F41"/>
      </a:accent5>
      <a:accent6>
        <a:srgbClr val="A1AE79"/>
      </a:accent6>
      <a:hlink>
        <a:srgbClr val="F1D06A"/>
      </a:hlink>
      <a:folHlink>
        <a:srgbClr val="EDDCA8"/>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D5CBAF11-69B7-47EA-BC01-41F77058C2A9}"/>
    </a:ext>
  </a:extLst>
</a:theme>
</file>

<file path=docProps/app.xml><?xml version="1.0" encoding="utf-8"?>
<Properties xmlns="http://schemas.openxmlformats.org/officeDocument/2006/extended-properties" xmlns:vt="http://schemas.openxmlformats.org/officeDocument/2006/docPropsVTypes">
  <Template>TM04033929[[fn=Slate]]</Template>
  <TotalTime>117</TotalTime>
  <Words>1017</Words>
  <Application>Microsoft Office PowerPoint</Application>
  <PresentationFormat>Widescreen</PresentationFormat>
  <Paragraphs>64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Calisto MT</vt:lpstr>
      <vt:lpstr>Times New Roman</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Likhitha k</dc:creator>
  <cp:lastModifiedBy>Likhitha k</cp:lastModifiedBy>
  <cp:revision>1</cp:revision>
  <dcterms:created xsi:type="dcterms:W3CDTF">2025-11-13T17:25:23Z</dcterms:created>
  <dcterms:modified xsi:type="dcterms:W3CDTF">2025-11-14T15:56:20Z</dcterms:modified>
</cp:coreProperties>
</file>